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9" r:id="rId3"/>
    <p:sldId id="257" r:id="rId4"/>
    <p:sldId id="258" r:id="rId5"/>
    <p:sldId id="260" r:id="rId6"/>
    <p:sldId id="263" r:id="rId7"/>
    <p:sldId id="261" r:id="rId8"/>
    <p:sldId id="262" r:id="rId9"/>
    <p:sldId id="265" r:id="rId10"/>
    <p:sldId id="266"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snapToObjects="1">
      <p:cViewPr varScale="1">
        <p:scale>
          <a:sx n="150" d="100"/>
          <a:sy n="150" d="100"/>
        </p:scale>
        <p:origin x="2064" y="1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DCA4D4-E2D1-463A-B4BC-415E6A573672}" type="datetimeFigureOut">
              <a:rPr lang="en-US" smtClean="0"/>
              <a:t>11/4/2025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8E084A-C186-45A8-8EE6-4369782265D7}" type="slidenum">
              <a:rPr lang="en-US" smtClean="0"/>
              <a:t>‹#›</a:t>
            </a:fld>
            <a:endParaRPr lang="en-US"/>
          </a:p>
        </p:txBody>
      </p:sp>
    </p:spTree>
    <p:extLst>
      <p:ext uri="{BB962C8B-B14F-4D97-AF65-F5344CB8AC3E}">
        <p14:creationId xmlns:p14="http://schemas.microsoft.com/office/powerpoint/2010/main" val="2647745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Consider end-to-end process rather than individual products</a:t>
            </a:r>
          </a:p>
          <a:p>
            <a:endParaRPr/>
          </a:p>
          <a:p>
            <a:r>
              <a:t>Vertinkite procesą nuo pradžios iki pabaigos, o ne atskirus produktus.</a:t>
            </a:r>
          </a:p>
          <a:p>
            <a:endParaRPr/>
          </a:p>
          <a:p>
            <a:r>
              <a:t>Paaiškinimas:</a:t>
            </a:r>
          </a:p>
          <a:p>
            <a:r>
              <a:t>Nesvarbu, kad diegiate kelis produktus (pvz., D365 Finance ir D365 Supply Chain). Vertinimas turi būti daromas per visą verslo procesą, pvz.:</a:t>
            </a:r>
          </a:p>
          <a:p>
            <a:r>
              <a:t>• nuo užsakymo gavimo iki sąskaitos išrašymo,</a:t>
            </a:r>
          </a:p>
          <a:p>
            <a:r>
              <a:t>• nuo žaliavos pirkimo iki galutinio produkto pardavimo.</a:t>
            </a:r>
          </a:p>
          <a:p>
            <a:r>
              <a:t>Tokiu būdu sąmata remiasi verslo vertės srautu, o ne tik moduliais.</a:t>
            </a:r>
          </a:p>
          <a:p>
            <a:endParaRPr/>
          </a:p>
          <a:p>
            <a:r>
              <a:t>2️⃣ Map out the overall data model</a:t>
            </a:r>
          </a:p>
          <a:p>
            <a:endParaRPr/>
          </a:p>
          <a:p>
            <a:r>
              <a:t>Nubraižykite bendrą duomenų modelį.</a:t>
            </a:r>
          </a:p>
          <a:p>
            <a:endParaRPr/>
          </a:p>
          <a:p>
            <a:r>
              <a:t>Paaiškinimas:</a:t>
            </a:r>
          </a:p>
          <a:p>
            <a:r>
              <a:t>Skirtingi sprendimai (Finance, SCM, CRM, Power Apps) naudoja skirtingas duomenų struktūras.</a:t>
            </a:r>
          </a:p>
          <a:p>
            <a:r>
              <a:t>Reikia iš anksto nustatyti:</a:t>
            </a:r>
          </a:p>
          <a:p>
            <a:r>
              <a:t>• kaip duomenys bus dalijami tarp sistemų,</a:t>
            </a:r>
          </a:p>
          <a:p>
            <a:r>
              <a:t>• kur bus "source of truth",</a:t>
            </a:r>
          </a:p>
          <a:p>
            <a:r>
              <a:t>• kaip veiks integracijos ir ataskaitos.</a:t>
            </a:r>
          </a:p>
          <a:p>
            <a:r>
              <a:t>Tai padeda išvengti duomenų dubliavimo ir nerealistinių planų.</a:t>
            </a:r>
          </a:p>
          <a:p>
            <a:endParaRPr/>
          </a:p>
          <a:p>
            <a:r>
              <a:t>3️⃣ Plan the roll-out strategy</a:t>
            </a:r>
          </a:p>
          <a:p>
            <a:endParaRPr/>
          </a:p>
          <a:p>
            <a:r>
              <a:t>Suplanuokite įgyvendinimo (roll-out) strategiją.</a:t>
            </a:r>
          </a:p>
          <a:p>
            <a:endParaRPr/>
          </a:p>
          <a:p>
            <a:r>
              <a:t>Paaiškinimas:</a:t>
            </a:r>
          </a:p>
          <a:p>
            <a:r>
              <a:t>Nustatykite, kaip sistema bus diegiama:</a:t>
            </a:r>
          </a:p>
          <a:p>
            <a:r>
              <a:t>• Etapais (phased roll-out) – pvz., pirmiausia finansai, po to tiekimo grandinė.</a:t>
            </a:r>
          </a:p>
          <a:p>
            <a:r>
              <a:t>• Pagal regionus / filialus (wave deployment).</a:t>
            </a:r>
          </a:p>
          <a:p>
            <a:r>
              <a:t>• Pagal funkcinius srautus (workstreams).</a:t>
            </a:r>
          </a:p>
          <a:p>
            <a:r>
              <a:t>Tai leidžia realiai paskirstyti išteklius ir valdyti riziką.</a:t>
            </a:r>
          </a:p>
          <a:p>
            <a:endParaRPr/>
          </a:p>
          <a:p>
            <a:r>
              <a:t>4️⃣ Create workstreams with end-to-end processes that deliver business value for each phase</a:t>
            </a:r>
          </a:p>
          <a:p>
            <a:endParaRPr/>
          </a:p>
          <a:p>
            <a:r>
              <a:t>Sukurkite darbo srautus (workstreams), kurie kiekviename etape teiktų verslo vertę.</a:t>
            </a:r>
          </a:p>
          <a:p>
            <a:endParaRPr/>
          </a:p>
          <a:p>
            <a:r>
              <a:t>Paaiškinimas:</a:t>
            </a:r>
          </a:p>
          <a:p>
            <a:r>
              <a:t>Kiekvienas etapas turi turėti aiškų verslo rezultatą.</a:t>
            </a:r>
          </a:p>
          <a:p>
            <a:r>
              <a:t>Pvz.:</a:t>
            </a:r>
          </a:p>
          <a:p>
            <a:r>
              <a:t>• 1 fazė → įgalinami pagrindiniai finansai (P/L ataskaitos, biudžetai).</a:t>
            </a:r>
          </a:p>
          <a:p>
            <a:r>
              <a:t>• 2 fazė → įgyvendinama sandėliavimo automatizacija.</a:t>
            </a:r>
          </a:p>
          <a:p>
            <a:r>
              <a:t>• 3 fazė → integruojamas CRM su klientų savitarnos portalu.</a:t>
            </a:r>
          </a:p>
          <a:p>
            <a:r>
              <a:t>Kiekvienas "workstream" – tai mini-projektas, turintis aiškią vertę.</a:t>
            </a:r>
          </a:p>
          <a:p>
            <a:endParaRPr/>
          </a:p>
          <a:p>
            <a:r>
              <a:t>5️⃣ Align estimates with workstreams and deliverables</a:t>
            </a:r>
          </a:p>
          <a:p>
            <a:endParaRPr/>
          </a:p>
          <a:p>
            <a:r>
              <a:t>Suderinkite sąmatas su darbo srautais ir pristatomais rezultatais.</a:t>
            </a:r>
          </a:p>
          <a:p>
            <a:endParaRPr/>
          </a:p>
          <a:p>
            <a:r>
              <a:t>Paaiškinimas:</a:t>
            </a:r>
          </a:p>
          <a:p>
            <a:r>
              <a:t>Kiekvienas "workstream" turi turėti savo sąmatą (estimation) – kiek laiko ir resursų reikės, kad būtų pristatyti konkretūs deliverables (pvz., sukonfigūruotas modulis, testavimo scenarijai, mokymai).</a:t>
            </a:r>
          </a:p>
          <a:p>
            <a:r>
              <a:t>Tai užtikrina, kad vertinimai būtų skaidrūs ir pamatuojami pagal rezultatą.</a:t>
            </a:r>
          </a:p>
          <a:p>
            <a:endParaRPr/>
          </a:p>
          <a:p>
            <a:r>
              <a:t>6️⃣ Review for shared resources (people, environments, etc.)</a:t>
            </a:r>
          </a:p>
          <a:p>
            <a:endParaRPr/>
          </a:p>
          <a:p>
            <a:r>
              <a:t>Įvertinkite bendrus išteklius (žmones, aplinkas ir kt.).</a:t>
            </a:r>
          </a:p>
          <a:p>
            <a:endParaRPr/>
          </a:p>
          <a:p>
            <a:r>
              <a:t>Paaiškinimas:</a:t>
            </a:r>
          </a:p>
          <a:p>
            <a:r>
              <a:t>Daugelis išteklių naudojami keliuose etapuose:</a:t>
            </a:r>
          </a:p>
          <a:p>
            <a:r>
              <a:t>• tie patys konsultantai (pvz., Finance architect),</a:t>
            </a:r>
          </a:p>
          <a:p>
            <a:r>
              <a:t>• tos pačios "sandbox" ar "UAT" aplinkos,</a:t>
            </a:r>
          </a:p>
          <a:p>
            <a:r>
              <a:t>• bendra Power BI infrastruktūra ar duomenų bazės.</a:t>
            </a:r>
          </a:p>
          <a:p>
            <a:r>
              <a:t>Jei to neįvertini — kyla resursų konfliktai, vėlavimai ar dubliavimas sąmatose.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457200"/>
            <a:ext cx="8229600" cy="731520"/>
          </a:xfrm>
          <a:prstGeom prst="rect">
            <a:avLst/>
          </a:prstGeom>
          <a:noFill/>
        </p:spPr>
        <p:txBody>
          <a:bodyPr wrap="none">
            <a:spAutoFit/>
          </a:bodyPr>
          <a:lstStyle/>
          <a:p>
            <a:pPr>
              <a:defRPr sz="4400" b="1">
                <a:solidFill>
                  <a:srgbClr val="000000"/>
                </a:solidFill>
              </a:defRPr>
            </a:pPr>
            <a:r>
              <a:t>Purpose of discovery</a:t>
            </a:r>
          </a:p>
        </p:txBody>
      </p:sp>
      <p:sp>
        <p:nvSpPr>
          <p:cNvPr id="3" name="Rounded Rectangle 2"/>
          <p:cNvSpPr/>
          <p:nvPr/>
        </p:nvSpPr>
        <p:spPr>
          <a:xfrm>
            <a:off x="545123" y="1463040"/>
            <a:ext cx="4572000" cy="731520"/>
          </a:xfrm>
          <a:prstGeom prst="roundRect">
            <a:avLst/>
          </a:prstGeom>
          <a:solidFill>
            <a:srgbClr val="9365B8"/>
          </a:solidFill>
          <a:ln>
            <a:solidFill>
              <a:srgbClr val="9365B8"/>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defRPr sz="1800" b="0">
                <a:solidFill>
                  <a:srgbClr val="FFFFFF"/>
                </a:solidFill>
              </a:defRPr>
            </a:pPr>
            <a:r>
              <a:rPr dirty="0"/>
              <a:t>Determine customer goals</a:t>
            </a:r>
          </a:p>
        </p:txBody>
      </p:sp>
      <p:sp>
        <p:nvSpPr>
          <p:cNvPr id="5" name="Rounded Rectangle 4"/>
          <p:cNvSpPr/>
          <p:nvPr/>
        </p:nvSpPr>
        <p:spPr>
          <a:xfrm>
            <a:off x="1308295" y="2468880"/>
            <a:ext cx="4572000" cy="731520"/>
          </a:xfrm>
          <a:prstGeom prst="roundRect">
            <a:avLst/>
          </a:prstGeom>
          <a:solidFill>
            <a:srgbClr val="445484"/>
          </a:solidFill>
          <a:ln>
            <a:solidFill>
              <a:srgbClr val="445484"/>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defRPr sz="1800" b="0">
                <a:solidFill>
                  <a:srgbClr val="FFFFFF"/>
                </a:solidFill>
              </a:defRPr>
            </a:pPr>
            <a:r>
              <a:rPr dirty="0"/>
              <a:t>Map goals to objectives</a:t>
            </a:r>
          </a:p>
        </p:txBody>
      </p:sp>
      <p:sp>
        <p:nvSpPr>
          <p:cNvPr id="7" name="Rounded Rectangle 6"/>
          <p:cNvSpPr/>
          <p:nvPr/>
        </p:nvSpPr>
        <p:spPr>
          <a:xfrm>
            <a:off x="2151184" y="3474720"/>
            <a:ext cx="4572000" cy="731520"/>
          </a:xfrm>
          <a:prstGeom prst="roundRect">
            <a:avLst/>
          </a:prstGeom>
          <a:solidFill>
            <a:srgbClr val="4F81BD"/>
          </a:solidFill>
          <a:ln>
            <a:solidFill>
              <a:srgbClr val="4F81BD"/>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defRPr sz="1800" b="0">
                <a:solidFill>
                  <a:srgbClr val="FFFFFF"/>
                </a:solidFill>
              </a:defRPr>
            </a:pPr>
            <a:r>
              <a:rPr dirty="0"/>
              <a:t>Map objectives to high level solutions</a:t>
            </a:r>
          </a:p>
        </p:txBody>
      </p:sp>
      <p:sp>
        <p:nvSpPr>
          <p:cNvPr id="9" name="Rounded Rectangle 8"/>
          <p:cNvSpPr/>
          <p:nvPr/>
        </p:nvSpPr>
        <p:spPr>
          <a:xfrm>
            <a:off x="3176951" y="4480560"/>
            <a:ext cx="4572000" cy="731520"/>
          </a:xfrm>
          <a:prstGeom prst="roundRect">
            <a:avLst/>
          </a:prstGeom>
          <a:solidFill>
            <a:srgbClr val="4BACC6"/>
          </a:solidFill>
          <a:ln>
            <a:solidFill>
              <a:srgbClr val="4BACC6"/>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defRPr sz="1800" b="0">
                <a:solidFill>
                  <a:srgbClr val="FFFFFF"/>
                </a:solidFill>
              </a:defRPr>
            </a:pPr>
            <a:r>
              <a:t>Refine solutions to meet customer needs</a:t>
            </a:r>
          </a:p>
        </p:txBody>
      </p:sp>
      <p:sp>
        <p:nvSpPr>
          <p:cNvPr id="4" name="Down Arrow 3"/>
          <p:cNvSpPr/>
          <p:nvPr/>
        </p:nvSpPr>
        <p:spPr>
          <a:xfrm>
            <a:off x="4611858" y="1992338"/>
            <a:ext cx="384516" cy="548640"/>
          </a:xfrm>
          <a:prstGeom prst="downArrow">
            <a:avLst/>
          </a:prstGeom>
          <a:solidFill>
            <a:srgbClr val="C0C0C0"/>
          </a:solidFill>
          <a:ln>
            <a:solidFill>
              <a:srgbClr val="C0C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Down Arrow 3">
            <a:extLst>
              <a:ext uri="{FF2B5EF4-FFF2-40B4-BE49-F238E27FC236}">
                <a16:creationId xmlns:a16="http://schemas.microsoft.com/office/drawing/2014/main" id="{70F18597-F0A9-D12B-BB7F-34B34DECC9AA}"/>
              </a:ext>
            </a:extLst>
          </p:cNvPr>
          <p:cNvSpPr/>
          <p:nvPr/>
        </p:nvSpPr>
        <p:spPr>
          <a:xfrm>
            <a:off x="5078435" y="3017520"/>
            <a:ext cx="384516" cy="548640"/>
          </a:xfrm>
          <a:prstGeom prst="downArrow">
            <a:avLst/>
          </a:prstGeom>
          <a:solidFill>
            <a:srgbClr val="C0C0C0"/>
          </a:solidFill>
          <a:ln>
            <a:solidFill>
              <a:srgbClr val="C0C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Down Arrow 3">
            <a:extLst>
              <a:ext uri="{FF2B5EF4-FFF2-40B4-BE49-F238E27FC236}">
                <a16:creationId xmlns:a16="http://schemas.microsoft.com/office/drawing/2014/main" id="{C01EE52D-D901-588A-079A-6FFFC0AAD6F5}"/>
              </a:ext>
            </a:extLst>
          </p:cNvPr>
          <p:cNvSpPr/>
          <p:nvPr/>
        </p:nvSpPr>
        <p:spPr>
          <a:xfrm>
            <a:off x="6059658" y="4069080"/>
            <a:ext cx="384516" cy="548640"/>
          </a:xfrm>
          <a:prstGeom prst="downArrow">
            <a:avLst/>
          </a:prstGeom>
          <a:solidFill>
            <a:srgbClr val="C0C0C0"/>
          </a:solidFill>
          <a:ln>
            <a:solidFill>
              <a:srgbClr val="C0C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defRPr sz="4000" b="1">
                <a:solidFill>
                  <a:srgbClr val="000000"/>
                </a:solidFill>
              </a:defRPr>
            </a:pPr>
            <a:r>
              <a:t>🏭 Gamyba - Pavyzdys</a:t>
            </a:r>
          </a:p>
        </p:txBody>
      </p:sp>
      <p:graphicFrame>
        <p:nvGraphicFramePr>
          <p:cNvPr id="3" name="Table 2"/>
          <p:cNvGraphicFramePr>
            <a:graphicFrameLocks noGrp="1"/>
          </p:cNvGraphicFramePr>
          <p:nvPr>
            <p:extLst>
              <p:ext uri="{D42A27DB-BD31-4B8C-83A1-F6EECF244321}">
                <p14:modId xmlns:p14="http://schemas.microsoft.com/office/powerpoint/2010/main" val="374266732"/>
              </p:ext>
            </p:extLst>
          </p:nvPr>
        </p:nvGraphicFramePr>
        <p:xfrm>
          <a:off x="457200" y="1371600"/>
          <a:ext cx="8229600" cy="50292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1005840">
                <a:tc>
                  <a:txBody>
                    <a:bodyPr/>
                    <a:lstStyle/>
                    <a:p>
                      <a:pPr algn="ctr">
                        <a:defRPr sz="1600" b="1">
                          <a:solidFill>
                            <a:srgbClr val="FFFFFF"/>
                          </a:solidFill>
                        </a:defRPr>
                      </a:pPr>
                      <a:r>
                        <a:t>Lygmuo</a:t>
                      </a:r>
                    </a:p>
                  </a:txBody>
                  <a:tcPr>
                    <a:solidFill>
                      <a:srgbClr val="323232"/>
                    </a:solidFill>
                  </a:tcPr>
                </a:tc>
                <a:tc>
                  <a:txBody>
                    <a:bodyPr/>
                    <a:lstStyle/>
                    <a:p>
                      <a:pPr algn="ctr">
                        <a:defRPr sz="1600" b="1">
                          <a:solidFill>
                            <a:srgbClr val="FFFFFF"/>
                          </a:solidFill>
                        </a:defRPr>
                      </a:pPr>
                      <a:r>
                        <a:t>Pavyzdys</a:t>
                      </a:r>
                    </a:p>
                  </a:txBody>
                  <a:tcPr>
                    <a:solidFill>
                      <a:srgbClr val="323232"/>
                    </a:solidFill>
                  </a:tcPr>
                </a:tc>
                <a:tc>
                  <a:txBody>
                    <a:bodyPr/>
                    <a:lstStyle/>
                    <a:p>
                      <a:pPr algn="ctr">
                        <a:defRPr sz="1600" b="1">
                          <a:solidFill>
                            <a:srgbClr val="FFFFFF"/>
                          </a:solidFill>
                        </a:defRPr>
                      </a:pPr>
                      <a:r>
                        <a:t>Paaiškinimas</a:t>
                      </a:r>
                    </a:p>
                  </a:txBody>
                  <a:tcPr>
                    <a:solidFill>
                      <a:srgbClr val="323232"/>
                    </a:solidFill>
                  </a:tcPr>
                </a:tc>
                <a:extLst>
                  <a:ext uri="{0D108BD9-81ED-4DB2-BD59-A6C34878D82A}">
                    <a16:rowId xmlns:a16="http://schemas.microsoft.com/office/drawing/2014/main" val="10000"/>
                  </a:ext>
                </a:extLst>
              </a:tr>
              <a:tr h="1005840">
                <a:tc>
                  <a:txBody>
                    <a:bodyPr/>
                    <a:lstStyle/>
                    <a:p>
                      <a:pPr algn="ctr">
                        <a:defRPr sz="1400" b="1">
                          <a:solidFill>
                            <a:srgbClr val="FFFFFF"/>
                          </a:solidFill>
                        </a:defRPr>
                      </a:pPr>
                      <a:r>
                        <a:rPr lang="lt-LT" dirty="0"/>
                        <a:t>Tikslas</a:t>
                      </a:r>
                      <a:endParaRPr dirty="0"/>
                    </a:p>
                  </a:txBody>
                  <a:tcPr>
                    <a:solidFill>
                      <a:srgbClr val="9365B8"/>
                    </a:solidFill>
                  </a:tcPr>
                </a:tc>
                <a:tc>
                  <a:txBody>
                    <a:bodyPr/>
                    <a:lstStyle/>
                    <a:p>
                      <a:pPr algn="l">
                        <a:defRPr sz="1200">
                          <a:solidFill>
                            <a:srgbClr val="000000"/>
                          </a:solidFill>
                        </a:defRPr>
                      </a:pPr>
                      <a:r>
                        <a:t>Padidinti gamybos efektyvumą ir sumažinti prastovas</a:t>
                      </a:r>
                    </a:p>
                  </a:txBody>
                  <a:tcPr>
                    <a:solidFill>
                      <a:srgbClr val="FAFAFA"/>
                    </a:solidFill>
                  </a:tcPr>
                </a:tc>
                <a:tc>
                  <a:txBody>
                    <a:bodyPr/>
                    <a:lstStyle/>
                    <a:p>
                      <a:pPr algn="l">
                        <a:defRPr sz="1100">
                          <a:solidFill>
                            <a:srgbClr val="3C3C3C"/>
                          </a:solidFill>
                        </a:defRPr>
                      </a:pPr>
                      <a:r>
                        <a:t>Verslo strateginis siekis</a:t>
                      </a:r>
                    </a:p>
                  </a:txBody>
                  <a:tcPr>
                    <a:solidFill>
                      <a:srgbClr val="FFFFFF"/>
                    </a:solidFill>
                  </a:tcPr>
                </a:tc>
                <a:extLst>
                  <a:ext uri="{0D108BD9-81ED-4DB2-BD59-A6C34878D82A}">
                    <a16:rowId xmlns:a16="http://schemas.microsoft.com/office/drawing/2014/main" val="10001"/>
                  </a:ext>
                </a:extLst>
              </a:tr>
              <a:tr h="1005840">
                <a:tc>
                  <a:txBody>
                    <a:bodyPr/>
                    <a:lstStyle/>
                    <a:p>
                      <a:pPr algn="ctr">
                        <a:defRPr sz="1400" b="1">
                          <a:solidFill>
                            <a:srgbClr val="FFFFFF"/>
                          </a:solidFill>
                        </a:defRPr>
                      </a:pPr>
                      <a:r>
                        <a:rPr lang="lt-LT" dirty="0"/>
                        <a:t>Uždavinys</a:t>
                      </a:r>
                      <a:endParaRPr dirty="0"/>
                    </a:p>
                  </a:txBody>
                  <a:tcPr>
                    <a:solidFill>
                      <a:srgbClr val="445484"/>
                    </a:solidFill>
                  </a:tcPr>
                </a:tc>
                <a:tc>
                  <a:txBody>
                    <a:bodyPr/>
                    <a:lstStyle/>
                    <a:p>
                      <a:pPr algn="l">
                        <a:defRPr sz="1200">
                          <a:solidFill>
                            <a:srgbClr val="000000"/>
                          </a:solidFill>
                        </a:defRPr>
                      </a:pPr>
                      <a:r>
                        <a:rPr dirty="0" err="1"/>
                        <a:t>Sumažinti</a:t>
                      </a:r>
                      <a:r>
                        <a:rPr dirty="0"/>
                        <a:t> </a:t>
                      </a:r>
                      <a:r>
                        <a:rPr dirty="0" err="1"/>
                        <a:t>planuotų</a:t>
                      </a:r>
                      <a:r>
                        <a:rPr dirty="0"/>
                        <a:t> </a:t>
                      </a:r>
                      <a:r>
                        <a:rPr dirty="0" err="1"/>
                        <a:t>sustojimų</a:t>
                      </a:r>
                      <a:r>
                        <a:rPr dirty="0"/>
                        <a:t> </a:t>
                      </a:r>
                      <a:r>
                        <a:rPr dirty="0" err="1"/>
                        <a:t>skaičių</a:t>
                      </a:r>
                      <a:r>
                        <a:rPr dirty="0"/>
                        <a:t> 15 % per 12 </a:t>
                      </a:r>
                      <a:r>
                        <a:rPr dirty="0" err="1"/>
                        <a:t>mėn</a:t>
                      </a:r>
                      <a:r>
                        <a:rPr dirty="0"/>
                        <a:t>.</a:t>
                      </a:r>
                    </a:p>
                  </a:txBody>
                  <a:tcPr>
                    <a:solidFill>
                      <a:srgbClr val="FAFAFA"/>
                    </a:solidFill>
                  </a:tcPr>
                </a:tc>
                <a:tc>
                  <a:txBody>
                    <a:bodyPr/>
                    <a:lstStyle/>
                    <a:p>
                      <a:pPr algn="l">
                        <a:defRPr sz="1100">
                          <a:solidFill>
                            <a:srgbClr val="3C3C3C"/>
                          </a:solidFill>
                        </a:defRPr>
                      </a:pPr>
                      <a:r>
                        <a:t>Taktinis, išmatuojamas tikslas</a:t>
                      </a:r>
                    </a:p>
                  </a:txBody>
                  <a:tcPr>
                    <a:solidFill>
                      <a:srgbClr val="FFFFFF"/>
                    </a:solidFill>
                  </a:tcPr>
                </a:tc>
                <a:extLst>
                  <a:ext uri="{0D108BD9-81ED-4DB2-BD59-A6C34878D82A}">
                    <a16:rowId xmlns:a16="http://schemas.microsoft.com/office/drawing/2014/main" val="10002"/>
                  </a:ext>
                </a:extLst>
              </a:tr>
              <a:tr h="1005840">
                <a:tc>
                  <a:txBody>
                    <a:bodyPr/>
                    <a:lstStyle/>
                    <a:p>
                      <a:pPr algn="ctr">
                        <a:defRPr sz="1400" b="1">
                          <a:solidFill>
                            <a:srgbClr val="FFFFFF"/>
                          </a:solidFill>
                        </a:defRPr>
                      </a:pPr>
                      <a:r>
                        <a:rPr lang="lt-LT" dirty="0"/>
                        <a:t>Aukšto lygio sprendimas</a:t>
                      </a:r>
                      <a:endParaRPr dirty="0"/>
                    </a:p>
                  </a:txBody>
                  <a:tcPr>
                    <a:solidFill>
                      <a:srgbClr val="4F81BD"/>
                    </a:solidFill>
                  </a:tcPr>
                </a:tc>
                <a:tc>
                  <a:txBody>
                    <a:bodyPr/>
                    <a:lstStyle/>
                    <a:p>
                      <a:pPr algn="l">
                        <a:defRPr sz="1200">
                          <a:solidFill>
                            <a:srgbClr val="000000"/>
                          </a:solidFill>
                        </a:defRPr>
                      </a:pPr>
                      <a:r>
                        <a:t>Įdiegti "Asset Management" modulį ir integruoti su IoT įrenginiais</a:t>
                      </a:r>
                    </a:p>
                  </a:txBody>
                  <a:tcPr>
                    <a:solidFill>
                      <a:srgbClr val="FAFAFA"/>
                    </a:solidFill>
                  </a:tcPr>
                </a:tc>
                <a:tc>
                  <a:txBody>
                    <a:bodyPr/>
                    <a:lstStyle/>
                    <a:p>
                      <a:pPr algn="l">
                        <a:defRPr sz="1100">
                          <a:solidFill>
                            <a:srgbClr val="3C3C3C"/>
                          </a:solidFill>
                        </a:defRPr>
                      </a:pPr>
                      <a:r>
                        <a:t>Technologinis sprendimas tikslui pasiekti</a:t>
                      </a:r>
                    </a:p>
                  </a:txBody>
                  <a:tcPr>
                    <a:solidFill>
                      <a:srgbClr val="FFFFFF"/>
                    </a:solidFill>
                  </a:tcPr>
                </a:tc>
                <a:extLst>
                  <a:ext uri="{0D108BD9-81ED-4DB2-BD59-A6C34878D82A}">
                    <a16:rowId xmlns:a16="http://schemas.microsoft.com/office/drawing/2014/main" val="10003"/>
                  </a:ext>
                </a:extLst>
              </a:tr>
              <a:tr h="1005840">
                <a:tc>
                  <a:txBody>
                    <a:bodyPr/>
                    <a:lstStyle/>
                    <a:p>
                      <a:pPr algn="ctr">
                        <a:defRPr sz="1400" b="1">
                          <a:solidFill>
                            <a:srgbClr val="FFFFFF"/>
                          </a:solidFill>
                        </a:defRPr>
                      </a:pPr>
                      <a:r>
                        <a:rPr lang="lt-LT" dirty="0"/>
                        <a:t>Patikslintas sprendimas</a:t>
                      </a:r>
                      <a:endParaRPr dirty="0"/>
                    </a:p>
                  </a:txBody>
                  <a:tcPr>
                    <a:solidFill>
                      <a:srgbClr val="4BACC6"/>
                    </a:solidFill>
                  </a:tcPr>
                </a:tc>
                <a:tc>
                  <a:txBody>
                    <a:bodyPr/>
                    <a:lstStyle/>
                    <a:p>
                      <a:pPr algn="l">
                        <a:defRPr sz="1200">
                          <a:solidFill>
                            <a:srgbClr val="000000"/>
                          </a:solidFill>
                        </a:defRPr>
                      </a:pPr>
                      <a:r>
                        <a:t>Konfigūruoti įrangos priežiūros grafikus pagal darbo valandas, sukurti IoT alertų logiką, įtraukti Power Automate pranešimus atsakingiems asmenims</a:t>
                      </a:r>
                    </a:p>
                  </a:txBody>
                  <a:tcPr>
                    <a:solidFill>
                      <a:srgbClr val="FAFAFA"/>
                    </a:solidFill>
                  </a:tcPr>
                </a:tc>
                <a:tc>
                  <a:txBody>
                    <a:bodyPr/>
                    <a:lstStyle/>
                    <a:p>
                      <a:pPr algn="l">
                        <a:defRPr sz="1100">
                          <a:solidFill>
                            <a:srgbClr val="3C3C3C"/>
                          </a:solidFill>
                        </a:defRPr>
                      </a:pPr>
                      <a:r>
                        <a:rPr dirty="0" err="1"/>
                        <a:t>Detalizuotas</a:t>
                      </a:r>
                      <a:r>
                        <a:rPr dirty="0"/>
                        <a:t> </a:t>
                      </a:r>
                      <a:r>
                        <a:rPr dirty="0" err="1"/>
                        <a:t>sprendimas</a:t>
                      </a:r>
                      <a:r>
                        <a:rPr dirty="0"/>
                        <a:t>, </a:t>
                      </a:r>
                      <a:r>
                        <a:rPr dirty="0" err="1"/>
                        <a:t>atspindintis</a:t>
                      </a:r>
                      <a:r>
                        <a:rPr dirty="0"/>
                        <a:t> </a:t>
                      </a:r>
                      <a:r>
                        <a:rPr dirty="0" err="1"/>
                        <a:t>kliento</a:t>
                      </a:r>
                      <a:r>
                        <a:rPr dirty="0"/>
                        <a:t> </a:t>
                      </a:r>
                      <a:r>
                        <a:rPr dirty="0" err="1"/>
                        <a:t>techninę</a:t>
                      </a:r>
                      <a:r>
                        <a:rPr dirty="0"/>
                        <a:t> </a:t>
                      </a:r>
                      <a:r>
                        <a:rPr dirty="0" err="1"/>
                        <a:t>aplinką</a:t>
                      </a:r>
                      <a:r>
                        <a:rPr dirty="0"/>
                        <a:t> </a:t>
                      </a:r>
                      <a:r>
                        <a:rPr dirty="0" err="1"/>
                        <a:t>ir</a:t>
                      </a:r>
                      <a:r>
                        <a:rPr dirty="0"/>
                        <a:t> </a:t>
                      </a:r>
                      <a:r>
                        <a:rPr dirty="0" err="1"/>
                        <a:t>atsakomybių</a:t>
                      </a:r>
                      <a:r>
                        <a:rPr dirty="0"/>
                        <a:t> </a:t>
                      </a:r>
                      <a:r>
                        <a:rPr dirty="0" err="1"/>
                        <a:t>grandinę</a:t>
                      </a:r>
                      <a:endParaRPr dirty="0"/>
                    </a:p>
                  </a:txBody>
                  <a:tcP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4114800" cy="731520"/>
          </a:xfrm>
          <a:prstGeom prst="rect">
            <a:avLst/>
          </a:prstGeom>
          <a:noFill/>
        </p:spPr>
        <p:txBody>
          <a:bodyPr wrap="none">
            <a:spAutoFit/>
          </a:bodyPr>
          <a:lstStyle/>
          <a:p>
            <a:pPr>
              <a:defRPr sz="4000" b="1">
                <a:solidFill>
                  <a:srgbClr val="000000"/>
                </a:solidFill>
              </a:defRPr>
            </a:pPr>
            <a:r>
              <a:t>Discovery scenarios</a:t>
            </a:r>
          </a:p>
        </p:txBody>
      </p:sp>
      <p:sp>
        <p:nvSpPr>
          <p:cNvPr id="3" name="TextBox 2"/>
          <p:cNvSpPr txBox="1"/>
          <p:nvPr/>
        </p:nvSpPr>
        <p:spPr>
          <a:xfrm>
            <a:off x="457200" y="1645920"/>
            <a:ext cx="4114800" cy="2862322"/>
          </a:xfrm>
          <a:prstGeom prst="rect">
            <a:avLst/>
          </a:prstGeom>
          <a:noFill/>
        </p:spPr>
        <p:txBody>
          <a:bodyPr wrap="square">
            <a:spAutoFit/>
          </a:bodyPr>
          <a:lstStyle/>
          <a:p>
            <a:pPr>
              <a:spcBef>
                <a:spcPts val="1200"/>
              </a:spcBef>
              <a:defRPr sz="2000">
                <a:solidFill>
                  <a:srgbClr val="000000"/>
                </a:solidFill>
              </a:defRPr>
            </a:pPr>
            <a:r>
              <a:rPr dirty="0"/>
              <a:t>1. </a:t>
            </a:r>
            <a:r>
              <a:rPr b="1" dirty="0"/>
              <a:t>Presales, scope definition, or </a:t>
            </a:r>
            <a:r>
              <a:rPr b="1" dirty="0">
                <a:solidFill>
                  <a:srgbClr val="0070C0"/>
                </a:solidFill>
              </a:rPr>
              <a:t>envisioning</a:t>
            </a:r>
            <a:r>
              <a:rPr b="1" dirty="0"/>
              <a:t> discovery</a:t>
            </a:r>
          </a:p>
          <a:p>
            <a:pPr>
              <a:spcBef>
                <a:spcPts val="1200"/>
              </a:spcBef>
              <a:defRPr sz="2000">
                <a:solidFill>
                  <a:srgbClr val="000000"/>
                </a:solidFill>
              </a:defRPr>
            </a:pPr>
            <a:r>
              <a:rPr dirty="0"/>
              <a:t>2. Detailed estimate (phase zero)</a:t>
            </a:r>
          </a:p>
          <a:p>
            <a:pPr>
              <a:spcBef>
                <a:spcPts val="1200"/>
              </a:spcBef>
              <a:defRPr sz="2000">
                <a:solidFill>
                  <a:srgbClr val="000000"/>
                </a:solidFill>
              </a:defRPr>
            </a:pPr>
            <a:r>
              <a:rPr dirty="0"/>
              <a:t>3. Ongoing solution architecture development</a:t>
            </a:r>
          </a:p>
          <a:p>
            <a:pPr>
              <a:spcBef>
                <a:spcPts val="1200"/>
              </a:spcBef>
              <a:defRPr sz="2000">
                <a:solidFill>
                  <a:srgbClr val="000000"/>
                </a:solidFill>
              </a:defRPr>
            </a:pPr>
            <a:r>
              <a:rPr dirty="0"/>
              <a:t>4. Training and change management</a:t>
            </a:r>
          </a:p>
          <a:p>
            <a:pPr>
              <a:spcBef>
                <a:spcPts val="1200"/>
              </a:spcBef>
              <a:defRPr sz="2000">
                <a:solidFill>
                  <a:srgbClr val="000000"/>
                </a:solidFill>
              </a:defRPr>
            </a:pPr>
            <a:r>
              <a:rPr dirty="0"/>
              <a:t>5. Continuous improvement</a:t>
            </a:r>
          </a:p>
        </p:txBody>
      </p:sp>
      <p:sp>
        <p:nvSpPr>
          <p:cNvPr id="4" name="Rectangle 3"/>
          <p:cNvSpPr/>
          <p:nvPr/>
        </p:nvSpPr>
        <p:spPr>
          <a:xfrm>
            <a:off x="4754880" y="457200"/>
            <a:ext cx="3931920" cy="5943600"/>
          </a:xfrm>
          <a:prstGeom prst="rect">
            <a:avLst/>
          </a:prstGeom>
          <a:solidFill>
            <a:srgbClr val="ADD8E6"/>
          </a:solidFill>
          <a:ln>
            <a:solidFill>
              <a:srgbClr val="6495ED"/>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1600">
                <a:solidFill>
                  <a:srgbClr val="464646"/>
                </a:solidFill>
              </a:defRPr>
            </a:pPr>
            <a:r>
              <a:t>Image placeholder</a:t>
            </a:r>
          </a:p>
          <a:p>
            <a:r>
              <a:t>(Building photo)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129954" cy="1200329"/>
          </a:xfrm>
          <a:prstGeom prst="rect">
            <a:avLst/>
          </a:prstGeom>
          <a:noFill/>
        </p:spPr>
        <p:txBody>
          <a:bodyPr wrap="square">
            <a:spAutoFit/>
          </a:bodyPr>
          <a:lstStyle/>
          <a:p>
            <a:pPr>
              <a:defRPr sz="3600" b="1">
                <a:solidFill>
                  <a:srgbClr val="000000"/>
                </a:solidFill>
              </a:defRPr>
            </a:pPr>
            <a:r>
              <a:rPr dirty="0"/>
              <a:t>Outcomes of well-executed </a:t>
            </a:r>
            <a:endParaRPr lang="lt-LT" dirty="0"/>
          </a:p>
          <a:p>
            <a:pPr>
              <a:defRPr sz="3600" b="1">
                <a:solidFill>
                  <a:srgbClr val="000000"/>
                </a:solidFill>
              </a:defRPr>
            </a:pPr>
            <a:r>
              <a:rPr dirty="0">
                <a:solidFill>
                  <a:srgbClr val="00B0F0"/>
                </a:solidFill>
              </a:rPr>
              <a:t>process-centric</a:t>
            </a:r>
            <a:r>
              <a:rPr dirty="0"/>
              <a:t> discovery</a:t>
            </a:r>
          </a:p>
        </p:txBody>
      </p:sp>
      <p:sp>
        <p:nvSpPr>
          <p:cNvPr id="3" name="Oval 2"/>
          <p:cNvSpPr/>
          <p:nvPr/>
        </p:nvSpPr>
        <p:spPr>
          <a:xfrm>
            <a:off x="731520" y="2286000"/>
            <a:ext cx="822960" cy="822960"/>
          </a:xfrm>
          <a:prstGeom prst="ellipse">
            <a:avLst/>
          </a:prstGeom>
          <a:solidFill>
            <a:srgbClr val="FFFFFF"/>
          </a:solidFill>
          <a:ln w="38100">
            <a:solidFill>
              <a:srgbClr val="9365B8"/>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4000"/>
            </a:pPr>
            <a:r>
              <a:t>👥</a:t>
            </a:r>
          </a:p>
        </p:txBody>
      </p:sp>
      <p:sp>
        <p:nvSpPr>
          <p:cNvPr id="4" name="TextBox 3"/>
          <p:cNvSpPr txBox="1"/>
          <p:nvPr/>
        </p:nvSpPr>
        <p:spPr>
          <a:xfrm>
            <a:off x="457200" y="3291840"/>
            <a:ext cx="1371600" cy="1036566"/>
          </a:xfrm>
          <a:prstGeom prst="rect">
            <a:avLst/>
          </a:prstGeom>
          <a:noFill/>
        </p:spPr>
        <p:txBody>
          <a:bodyPr wrap="square">
            <a:spAutoFit/>
          </a:bodyPr>
          <a:lstStyle/>
          <a:p>
            <a:pPr algn="ctr">
              <a:lnSpc>
                <a:spcPct val="120000"/>
              </a:lnSpc>
              <a:defRPr sz="1300">
                <a:solidFill>
                  <a:srgbClr val="000000"/>
                </a:solidFill>
              </a:defRPr>
            </a:pPr>
            <a:r>
              <a:rPr dirty="0"/>
              <a:t>Well defined goals in</a:t>
            </a:r>
          </a:p>
          <a:p>
            <a:pPr algn="ctr">
              <a:lnSpc>
                <a:spcPct val="120000"/>
              </a:lnSpc>
              <a:defRPr sz="1300">
                <a:solidFill>
                  <a:srgbClr val="000000"/>
                </a:solidFill>
              </a:defRPr>
            </a:pPr>
            <a:r>
              <a:rPr sz="1300" dirty="0">
                <a:solidFill>
                  <a:srgbClr val="000000"/>
                </a:solidFill>
              </a:rPr>
              <a:t>business language</a:t>
            </a:r>
          </a:p>
        </p:txBody>
      </p:sp>
      <p:sp>
        <p:nvSpPr>
          <p:cNvPr id="5" name="Oval 4"/>
          <p:cNvSpPr/>
          <p:nvPr/>
        </p:nvSpPr>
        <p:spPr>
          <a:xfrm>
            <a:off x="2103120" y="2286000"/>
            <a:ext cx="822960" cy="822960"/>
          </a:xfrm>
          <a:prstGeom prst="ellipse">
            <a:avLst/>
          </a:prstGeom>
          <a:solidFill>
            <a:srgbClr val="FFFFFF"/>
          </a:solidFill>
          <a:ln w="38100">
            <a:solidFill>
              <a:srgbClr val="9365B8"/>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4000"/>
            </a:pPr>
            <a:r>
              <a:rPr dirty="0"/>
              <a:t>📊</a:t>
            </a:r>
          </a:p>
        </p:txBody>
      </p:sp>
      <p:sp>
        <p:nvSpPr>
          <p:cNvPr id="6" name="TextBox 5"/>
          <p:cNvSpPr txBox="1"/>
          <p:nvPr/>
        </p:nvSpPr>
        <p:spPr>
          <a:xfrm>
            <a:off x="1828800" y="3291840"/>
            <a:ext cx="1371600" cy="1036566"/>
          </a:xfrm>
          <a:prstGeom prst="rect">
            <a:avLst/>
          </a:prstGeom>
          <a:noFill/>
        </p:spPr>
        <p:txBody>
          <a:bodyPr wrap="square">
            <a:spAutoFit/>
          </a:bodyPr>
          <a:lstStyle/>
          <a:p>
            <a:pPr algn="ctr">
              <a:lnSpc>
                <a:spcPct val="120000"/>
              </a:lnSpc>
              <a:defRPr sz="1300">
                <a:solidFill>
                  <a:srgbClr val="000000"/>
                </a:solidFill>
              </a:defRPr>
            </a:pPr>
            <a:r>
              <a:rPr sz="1300" dirty="0">
                <a:solidFill>
                  <a:srgbClr val="000000"/>
                </a:solidFill>
              </a:rPr>
              <a:t>Relevant business</a:t>
            </a:r>
          </a:p>
          <a:p>
            <a:pPr algn="ctr">
              <a:lnSpc>
                <a:spcPct val="120000"/>
              </a:lnSpc>
              <a:defRPr sz="1300">
                <a:solidFill>
                  <a:srgbClr val="000000"/>
                </a:solidFill>
              </a:defRPr>
            </a:pPr>
            <a:r>
              <a:rPr sz="1300" dirty="0">
                <a:solidFill>
                  <a:srgbClr val="000000"/>
                </a:solidFill>
              </a:rPr>
              <a:t>process KPI's identified</a:t>
            </a:r>
          </a:p>
        </p:txBody>
      </p:sp>
      <p:sp>
        <p:nvSpPr>
          <p:cNvPr id="7" name="Oval 6"/>
          <p:cNvSpPr/>
          <p:nvPr/>
        </p:nvSpPr>
        <p:spPr>
          <a:xfrm>
            <a:off x="3474720" y="2286000"/>
            <a:ext cx="822960" cy="822960"/>
          </a:xfrm>
          <a:prstGeom prst="ellipse">
            <a:avLst/>
          </a:prstGeom>
          <a:solidFill>
            <a:srgbClr val="FFFFFF"/>
          </a:solidFill>
          <a:ln w="38100">
            <a:solidFill>
              <a:srgbClr val="9365B8"/>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4000"/>
            </a:pPr>
            <a:r>
              <a:t>💧</a:t>
            </a:r>
          </a:p>
        </p:txBody>
      </p:sp>
      <p:sp>
        <p:nvSpPr>
          <p:cNvPr id="8" name="TextBox 7"/>
          <p:cNvSpPr txBox="1"/>
          <p:nvPr/>
        </p:nvSpPr>
        <p:spPr>
          <a:xfrm>
            <a:off x="3200400" y="3291840"/>
            <a:ext cx="1371600" cy="1036566"/>
          </a:xfrm>
          <a:prstGeom prst="rect">
            <a:avLst/>
          </a:prstGeom>
          <a:noFill/>
        </p:spPr>
        <p:txBody>
          <a:bodyPr wrap="square">
            <a:spAutoFit/>
          </a:bodyPr>
          <a:lstStyle/>
          <a:p>
            <a:pPr algn="ctr">
              <a:lnSpc>
                <a:spcPct val="120000"/>
              </a:lnSpc>
              <a:defRPr sz="1300">
                <a:solidFill>
                  <a:srgbClr val="000000"/>
                </a:solidFill>
              </a:defRPr>
            </a:pPr>
            <a:r>
              <a:rPr dirty="0"/>
              <a:t>More accurate estimates</a:t>
            </a:r>
          </a:p>
          <a:p>
            <a:pPr algn="ctr">
              <a:lnSpc>
                <a:spcPct val="120000"/>
              </a:lnSpc>
              <a:defRPr sz="1300">
                <a:solidFill>
                  <a:srgbClr val="000000"/>
                </a:solidFill>
              </a:defRPr>
            </a:pPr>
            <a:r>
              <a:rPr sz="1300" dirty="0">
                <a:solidFill>
                  <a:srgbClr val="000000"/>
                </a:solidFill>
              </a:rPr>
              <a:t>aligned to business goals</a:t>
            </a:r>
          </a:p>
        </p:txBody>
      </p:sp>
      <p:sp>
        <p:nvSpPr>
          <p:cNvPr id="9" name="Oval 8"/>
          <p:cNvSpPr/>
          <p:nvPr/>
        </p:nvSpPr>
        <p:spPr>
          <a:xfrm>
            <a:off x="4846320" y="2286000"/>
            <a:ext cx="822960" cy="822960"/>
          </a:xfrm>
          <a:prstGeom prst="ellipse">
            <a:avLst/>
          </a:prstGeom>
          <a:solidFill>
            <a:srgbClr val="FFFFFF"/>
          </a:solidFill>
          <a:ln w="38100">
            <a:solidFill>
              <a:srgbClr val="9365B8"/>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4000"/>
            </a:pPr>
            <a:r>
              <a:t>📡</a:t>
            </a:r>
          </a:p>
        </p:txBody>
      </p:sp>
      <p:sp>
        <p:nvSpPr>
          <p:cNvPr id="10" name="TextBox 9"/>
          <p:cNvSpPr txBox="1"/>
          <p:nvPr/>
        </p:nvSpPr>
        <p:spPr>
          <a:xfrm>
            <a:off x="4572000" y="3291840"/>
            <a:ext cx="1371600" cy="796500"/>
          </a:xfrm>
          <a:prstGeom prst="rect">
            <a:avLst/>
          </a:prstGeom>
          <a:noFill/>
        </p:spPr>
        <p:txBody>
          <a:bodyPr wrap="square">
            <a:spAutoFit/>
          </a:bodyPr>
          <a:lstStyle/>
          <a:p>
            <a:pPr algn="ctr">
              <a:lnSpc>
                <a:spcPct val="120000"/>
              </a:lnSpc>
              <a:defRPr sz="1300">
                <a:solidFill>
                  <a:srgbClr val="000000"/>
                </a:solidFill>
              </a:defRPr>
            </a:pPr>
            <a:r>
              <a:rPr dirty="0"/>
              <a:t>Clear communication</a:t>
            </a:r>
          </a:p>
          <a:p>
            <a:pPr algn="ctr">
              <a:lnSpc>
                <a:spcPct val="120000"/>
              </a:lnSpc>
              <a:defRPr sz="1300">
                <a:solidFill>
                  <a:srgbClr val="000000"/>
                </a:solidFill>
              </a:defRPr>
            </a:pPr>
            <a:r>
              <a:rPr sz="1300" dirty="0">
                <a:solidFill>
                  <a:srgbClr val="000000"/>
                </a:solidFill>
              </a:rPr>
              <a:t>and solutions</a:t>
            </a:r>
          </a:p>
        </p:txBody>
      </p:sp>
      <p:sp>
        <p:nvSpPr>
          <p:cNvPr id="11" name="Oval 10"/>
          <p:cNvSpPr/>
          <p:nvPr/>
        </p:nvSpPr>
        <p:spPr>
          <a:xfrm>
            <a:off x="6217920" y="2286000"/>
            <a:ext cx="822960" cy="822960"/>
          </a:xfrm>
          <a:prstGeom prst="ellipse">
            <a:avLst/>
          </a:prstGeom>
          <a:solidFill>
            <a:srgbClr val="FFFFFF"/>
          </a:solidFill>
          <a:ln w="38100">
            <a:solidFill>
              <a:srgbClr val="9365B8"/>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4000"/>
            </a:pPr>
            <a:r>
              <a:t>🎧</a:t>
            </a:r>
          </a:p>
        </p:txBody>
      </p:sp>
      <p:sp>
        <p:nvSpPr>
          <p:cNvPr id="12" name="TextBox 11"/>
          <p:cNvSpPr txBox="1"/>
          <p:nvPr/>
        </p:nvSpPr>
        <p:spPr>
          <a:xfrm>
            <a:off x="5943600" y="3291840"/>
            <a:ext cx="1371600" cy="1371600"/>
          </a:xfrm>
          <a:prstGeom prst="rect">
            <a:avLst/>
          </a:prstGeom>
          <a:noFill/>
        </p:spPr>
        <p:txBody>
          <a:bodyPr wrap="square">
            <a:spAutoFit/>
          </a:bodyPr>
          <a:lstStyle/>
          <a:p>
            <a:pPr algn="ctr">
              <a:lnSpc>
                <a:spcPct val="120000"/>
              </a:lnSpc>
              <a:defRPr sz="1300">
                <a:solidFill>
                  <a:srgbClr val="000000"/>
                </a:solidFill>
              </a:defRPr>
            </a:pPr>
            <a:r>
              <a:rPr dirty="0"/>
              <a:t>Fewer change orders</a:t>
            </a:r>
          </a:p>
        </p:txBody>
      </p:sp>
      <p:sp>
        <p:nvSpPr>
          <p:cNvPr id="13" name="Oval 12"/>
          <p:cNvSpPr/>
          <p:nvPr/>
        </p:nvSpPr>
        <p:spPr>
          <a:xfrm>
            <a:off x="7589520" y="2286000"/>
            <a:ext cx="822960" cy="822960"/>
          </a:xfrm>
          <a:prstGeom prst="ellipse">
            <a:avLst/>
          </a:prstGeom>
          <a:solidFill>
            <a:srgbClr val="FFFFFF"/>
          </a:solidFill>
          <a:ln w="38100">
            <a:solidFill>
              <a:srgbClr val="9365B8"/>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4000"/>
            </a:pPr>
            <a:r>
              <a:t>🌐</a:t>
            </a:r>
          </a:p>
        </p:txBody>
      </p:sp>
      <p:sp>
        <p:nvSpPr>
          <p:cNvPr id="14" name="TextBox 13"/>
          <p:cNvSpPr txBox="1"/>
          <p:nvPr/>
        </p:nvSpPr>
        <p:spPr>
          <a:xfrm>
            <a:off x="7315200" y="3291840"/>
            <a:ext cx="1371600" cy="1371600"/>
          </a:xfrm>
          <a:prstGeom prst="rect">
            <a:avLst/>
          </a:prstGeom>
          <a:noFill/>
        </p:spPr>
        <p:txBody>
          <a:bodyPr wrap="square">
            <a:spAutoFit/>
          </a:bodyPr>
          <a:lstStyle/>
          <a:p>
            <a:pPr algn="ctr">
              <a:lnSpc>
                <a:spcPct val="120000"/>
              </a:lnSpc>
              <a:defRPr sz="1300">
                <a:solidFill>
                  <a:srgbClr val="000000"/>
                </a:solidFill>
              </a:defRPr>
            </a:pPr>
            <a:r>
              <a:rPr dirty="0"/>
              <a:t>Increased adoption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640080"/>
          </a:xfrm>
          <a:prstGeom prst="rect">
            <a:avLst/>
          </a:prstGeom>
          <a:noFill/>
        </p:spPr>
        <p:txBody>
          <a:bodyPr wrap="none">
            <a:spAutoFit/>
          </a:bodyPr>
          <a:lstStyle/>
          <a:p>
            <a:pPr>
              <a:defRPr sz="4000" b="1">
                <a:solidFill>
                  <a:srgbClr val="000000"/>
                </a:solidFill>
              </a:defRPr>
            </a:pPr>
            <a:r>
              <a:t>Process-centric discovery goals</a:t>
            </a:r>
          </a:p>
        </p:txBody>
      </p:sp>
      <p:sp>
        <p:nvSpPr>
          <p:cNvPr id="3" name="Rectangle 2"/>
          <p:cNvSpPr/>
          <p:nvPr/>
        </p:nvSpPr>
        <p:spPr>
          <a:xfrm>
            <a:off x="457200" y="1645920"/>
            <a:ext cx="1325880" cy="4114800"/>
          </a:xfrm>
          <a:prstGeom prst="rect">
            <a:avLst/>
          </a:prstGeom>
          <a:solidFill>
            <a:srgbClr val="583882"/>
          </a:solidFill>
          <a:ln>
            <a:solidFill>
              <a:srgbClr val="5838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0"/>
            <a:ext cx="1325880" cy="457200"/>
          </a:xfrm>
          <a:prstGeom prst="rect">
            <a:avLst/>
          </a:prstGeom>
          <a:noFill/>
        </p:spPr>
        <p:txBody>
          <a:bodyPr wrap="none" anchor="t">
            <a:spAutoFit/>
          </a:bodyPr>
          <a:lstStyle/>
          <a:p>
            <a:pPr algn="ctr">
              <a:defRPr sz="2400" b="1">
                <a:solidFill>
                  <a:srgbClr val="FFFFFF"/>
                </a:solidFill>
              </a:defRPr>
            </a:pPr>
            <a:r>
              <a:t>01</a:t>
            </a:r>
          </a:p>
        </p:txBody>
      </p:sp>
      <p:sp>
        <p:nvSpPr>
          <p:cNvPr id="5" name="TextBox 4"/>
          <p:cNvSpPr txBox="1"/>
          <p:nvPr/>
        </p:nvSpPr>
        <p:spPr>
          <a:xfrm>
            <a:off x="548640" y="2468880"/>
            <a:ext cx="1143000" cy="1367747"/>
          </a:xfrm>
          <a:prstGeom prst="rect">
            <a:avLst/>
          </a:prstGeom>
          <a:noFill/>
        </p:spPr>
        <p:txBody>
          <a:bodyPr wrap="square" anchor="t">
            <a:spAutoFit/>
          </a:bodyPr>
          <a:lstStyle/>
          <a:p>
            <a:pPr algn="ctr">
              <a:lnSpc>
                <a:spcPct val="120000"/>
              </a:lnSpc>
              <a:defRPr sz="1400">
                <a:solidFill>
                  <a:srgbClr val="FFFFFF"/>
                </a:solidFill>
              </a:defRPr>
            </a:pPr>
            <a:r>
              <a:t>Capture and qualify the customer's business outcomes</a:t>
            </a:r>
          </a:p>
        </p:txBody>
      </p:sp>
      <p:sp>
        <p:nvSpPr>
          <p:cNvPr id="6" name="Rectangle 5"/>
          <p:cNvSpPr/>
          <p:nvPr/>
        </p:nvSpPr>
        <p:spPr>
          <a:xfrm>
            <a:off x="1828800" y="1645920"/>
            <a:ext cx="1325880" cy="4114800"/>
          </a:xfrm>
          <a:prstGeom prst="rect">
            <a:avLst/>
          </a:prstGeom>
          <a:solidFill>
            <a:srgbClr val="7851A9"/>
          </a:solidFill>
          <a:ln>
            <a:solidFill>
              <a:srgbClr val="7851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0" y="1828800"/>
            <a:ext cx="1325880" cy="457200"/>
          </a:xfrm>
          <a:prstGeom prst="rect">
            <a:avLst/>
          </a:prstGeom>
          <a:noFill/>
        </p:spPr>
        <p:txBody>
          <a:bodyPr wrap="none" anchor="t">
            <a:spAutoFit/>
          </a:bodyPr>
          <a:lstStyle/>
          <a:p>
            <a:pPr algn="ctr">
              <a:defRPr sz="2400" b="1">
                <a:solidFill>
                  <a:srgbClr val="FFFFFF"/>
                </a:solidFill>
              </a:defRPr>
            </a:pPr>
            <a:r>
              <a:t>02</a:t>
            </a:r>
          </a:p>
        </p:txBody>
      </p:sp>
      <p:sp>
        <p:nvSpPr>
          <p:cNvPr id="8" name="TextBox 7"/>
          <p:cNvSpPr txBox="1"/>
          <p:nvPr/>
        </p:nvSpPr>
        <p:spPr>
          <a:xfrm>
            <a:off x="1920240" y="2468880"/>
            <a:ext cx="1143000" cy="1626279"/>
          </a:xfrm>
          <a:prstGeom prst="rect">
            <a:avLst/>
          </a:prstGeom>
          <a:noFill/>
        </p:spPr>
        <p:txBody>
          <a:bodyPr wrap="square" anchor="t">
            <a:spAutoFit/>
          </a:bodyPr>
          <a:lstStyle/>
          <a:p>
            <a:pPr algn="ctr">
              <a:lnSpc>
                <a:spcPct val="120000"/>
              </a:lnSpc>
              <a:defRPr sz="1400">
                <a:solidFill>
                  <a:srgbClr val="FFFFFF"/>
                </a:solidFill>
              </a:defRPr>
            </a:pPr>
            <a:r>
              <a:t>Define or clarify solution scope in business terms</a:t>
            </a:r>
          </a:p>
        </p:txBody>
      </p:sp>
      <p:sp>
        <p:nvSpPr>
          <p:cNvPr id="9" name="Rectangle 8"/>
          <p:cNvSpPr/>
          <p:nvPr/>
        </p:nvSpPr>
        <p:spPr>
          <a:xfrm>
            <a:off x="3200400" y="1645920"/>
            <a:ext cx="1325880" cy="4114800"/>
          </a:xfrm>
          <a:prstGeom prst="rect">
            <a:avLst/>
          </a:prstGeom>
          <a:solidFill>
            <a:srgbClr val="445484"/>
          </a:solidFill>
          <a:ln>
            <a:solidFill>
              <a:srgbClr val="4454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0" y="1828800"/>
            <a:ext cx="1325880" cy="457200"/>
          </a:xfrm>
          <a:prstGeom prst="rect">
            <a:avLst/>
          </a:prstGeom>
          <a:noFill/>
        </p:spPr>
        <p:txBody>
          <a:bodyPr wrap="none" anchor="t">
            <a:spAutoFit/>
          </a:bodyPr>
          <a:lstStyle/>
          <a:p>
            <a:pPr algn="ctr">
              <a:defRPr sz="2400" b="1">
                <a:solidFill>
                  <a:srgbClr val="FFFFFF"/>
                </a:solidFill>
              </a:defRPr>
            </a:pPr>
            <a:r>
              <a:t>03</a:t>
            </a:r>
          </a:p>
        </p:txBody>
      </p:sp>
      <p:sp>
        <p:nvSpPr>
          <p:cNvPr id="11" name="TextBox 10"/>
          <p:cNvSpPr txBox="1"/>
          <p:nvPr/>
        </p:nvSpPr>
        <p:spPr>
          <a:xfrm>
            <a:off x="3291840" y="2468880"/>
            <a:ext cx="1143000" cy="1626279"/>
          </a:xfrm>
          <a:prstGeom prst="rect">
            <a:avLst/>
          </a:prstGeom>
          <a:noFill/>
        </p:spPr>
        <p:txBody>
          <a:bodyPr wrap="square" anchor="t">
            <a:spAutoFit/>
          </a:bodyPr>
          <a:lstStyle/>
          <a:p>
            <a:pPr algn="ctr">
              <a:lnSpc>
                <a:spcPct val="120000"/>
              </a:lnSpc>
              <a:defRPr sz="1400">
                <a:solidFill>
                  <a:srgbClr val="FFFFFF"/>
                </a:solidFill>
              </a:defRPr>
            </a:pPr>
            <a:r>
              <a:t>Achieve clarity with customer with regards to the solution</a:t>
            </a:r>
          </a:p>
        </p:txBody>
      </p:sp>
      <p:sp>
        <p:nvSpPr>
          <p:cNvPr id="12" name="Rectangle 11"/>
          <p:cNvSpPr/>
          <p:nvPr/>
        </p:nvSpPr>
        <p:spPr>
          <a:xfrm>
            <a:off x="4572000" y="1645920"/>
            <a:ext cx="1325880" cy="4114800"/>
          </a:xfrm>
          <a:prstGeom prst="rect">
            <a:avLst/>
          </a:prstGeom>
          <a:solidFill>
            <a:srgbClr val="4F81BD"/>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1828800"/>
            <a:ext cx="1325880" cy="457200"/>
          </a:xfrm>
          <a:prstGeom prst="rect">
            <a:avLst/>
          </a:prstGeom>
          <a:noFill/>
        </p:spPr>
        <p:txBody>
          <a:bodyPr wrap="none" anchor="t">
            <a:spAutoFit/>
          </a:bodyPr>
          <a:lstStyle/>
          <a:p>
            <a:pPr algn="ctr">
              <a:defRPr sz="2400" b="1">
                <a:solidFill>
                  <a:srgbClr val="FFFFFF"/>
                </a:solidFill>
              </a:defRPr>
            </a:pPr>
            <a:r>
              <a:t>04</a:t>
            </a:r>
          </a:p>
        </p:txBody>
      </p:sp>
      <p:sp>
        <p:nvSpPr>
          <p:cNvPr id="14" name="TextBox 13"/>
          <p:cNvSpPr txBox="1"/>
          <p:nvPr/>
        </p:nvSpPr>
        <p:spPr>
          <a:xfrm>
            <a:off x="4663440" y="2468880"/>
            <a:ext cx="1143000" cy="1626279"/>
          </a:xfrm>
          <a:prstGeom prst="rect">
            <a:avLst/>
          </a:prstGeom>
          <a:noFill/>
        </p:spPr>
        <p:txBody>
          <a:bodyPr wrap="square" anchor="t">
            <a:spAutoFit/>
          </a:bodyPr>
          <a:lstStyle/>
          <a:p>
            <a:pPr algn="ctr">
              <a:lnSpc>
                <a:spcPct val="120000"/>
              </a:lnSpc>
              <a:defRPr sz="1400">
                <a:solidFill>
                  <a:srgbClr val="FFFFFF"/>
                </a:solidFill>
              </a:defRPr>
            </a:pPr>
            <a:r>
              <a:rPr dirty="0"/>
              <a:t>Provide project estimates aligned with both fits and gaps</a:t>
            </a:r>
          </a:p>
        </p:txBody>
      </p:sp>
      <p:sp>
        <p:nvSpPr>
          <p:cNvPr id="15" name="Rectangle 14"/>
          <p:cNvSpPr/>
          <p:nvPr/>
        </p:nvSpPr>
        <p:spPr>
          <a:xfrm>
            <a:off x="5943600" y="1645920"/>
            <a:ext cx="1325880" cy="4114800"/>
          </a:xfrm>
          <a:prstGeom prst="rect">
            <a:avLst/>
          </a:prstGeom>
          <a:solidFill>
            <a:srgbClr val="5C9CCC"/>
          </a:solidFill>
          <a:ln>
            <a:solidFill>
              <a:srgbClr val="5C9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0" y="1828800"/>
            <a:ext cx="1325880" cy="457200"/>
          </a:xfrm>
          <a:prstGeom prst="rect">
            <a:avLst/>
          </a:prstGeom>
          <a:noFill/>
        </p:spPr>
        <p:txBody>
          <a:bodyPr wrap="none" anchor="t">
            <a:spAutoFit/>
          </a:bodyPr>
          <a:lstStyle/>
          <a:p>
            <a:pPr algn="ctr">
              <a:defRPr sz="2400" b="1">
                <a:solidFill>
                  <a:srgbClr val="FFFFFF"/>
                </a:solidFill>
              </a:defRPr>
            </a:pPr>
            <a:r>
              <a:t>05</a:t>
            </a:r>
          </a:p>
        </p:txBody>
      </p:sp>
      <p:sp>
        <p:nvSpPr>
          <p:cNvPr id="17" name="TextBox 16"/>
          <p:cNvSpPr txBox="1"/>
          <p:nvPr/>
        </p:nvSpPr>
        <p:spPr>
          <a:xfrm>
            <a:off x="5989320" y="2468880"/>
            <a:ext cx="1234440" cy="1109214"/>
          </a:xfrm>
          <a:prstGeom prst="rect">
            <a:avLst/>
          </a:prstGeom>
          <a:noFill/>
        </p:spPr>
        <p:txBody>
          <a:bodyPr wrap="square" anchor="t">
            <a:spAutoFit/>
          </a:bodyPr>
          <a:lstStyle/>
          <a:p>
            <a:pPr algn="ctr">
              <a:lnSpc>
                <a:spcPct val="120000"/>
              </a:lnSpc>
              <a:defRPr sz="1400">
                <a:solidFill>
                  <a:srgbClr val="FFFFFF"/>
                </a:solidFill>
              </a:defRPr>
            </a:pPr>
            <a:r>
              <a:rPr dirty="0"/>
              <a:t>Capture and qualify change</a:t>
            </a:r>
            <a:r>
              <a:rPr lang="lt-LT" dirty="0"/>
              <a:t> </a:t>
            </a:r>
            <a:r>
              <a:rPr lang="en-US" dirty="0"/>
              <a:t> m</a:t>
            </a:r>
            <a:r>
              <a:rPr dirty="0"/>
              <a:t>anagement requirements</a:t>
            </a:r>
          </a:p>
        </p:txBody>
      </p:sp>
      <p:sp>
        <p:nvSpPr>
          <p:cNvPr id="18" name="Rectangle 17"/>
          <p:cNvSpPr/>
          <p:nvPr/>
        </p:nvSpPr>
        <p:spPr>
          <a:xfrm>
            <a:off x="7315200" y="1645920"/>
            <a:ext cx="1325880" cy="4114800"/>
          </a:xfrm>
          <a:prstGeom prst="rect">
            <a:avLst/>
          </a:prstGeom>
          <a:solidFill>
            <a:srgbClr val="4BACC6"/>
          </a:solidFill>
          <a:ln>
            <a:solidFill>
              <a:srgbClr val="4BAC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0" y="1828800"/>
            <a:ext cx="1325880" cy="457200"/>
          </a:xfrm>
          <a:prstGeom prst="rect">
            <a:avLst/>
          </a:prstGeom>
          <a:noFill/>
        </p:spPr>
        <p:txBody>
          <a:bodyPr wrap="none" anchor="t">
            <a:spAutoFit/>
          </a:bodyPr>
          <a:lstStyle/>
          <a:p>
            <a:pPr algn="ctr">
              <a:defRPr sz="2400" b="1">
                <a:solidFill>
                  <a:srgbClr val="FFFFFF"/>
                </a:solidFill>
              </a:defRPr>
            </a:pPr>
            <a:r>
              <a:t>06</a:t>
            </a:r>
          </a:p>
        </p:txBody>
      </p:sp>
      <p:sp>
        <p:nvSpPr>
          <p:cNvPr id="20" name="TextBox 19"/>
          <p:cNvSpPr txBox="1"/>
          <p:nvPr/>
        </p:nvSpPr>
        <p:spPr>
          <a:xfrm>
            <a:off x="7406640" y="2468880"/>
            <a:ext cx="1143000" cy="2660408"/>
          </a:xfrm>
          <a:prstGeom prst="rect">
            <a:avLst/>
          </a:prstGeom>
          <a:noFill/>
        </p:spPr>
        <p:txBody>
          <a:bodyPr wrap="square" anchor="t">
            <a:spAutoFit/>
          </a:bodyPr>
          <a:lstStyle/>
          <a:p>
            <a:pPr algn="ctr">
              <a:lnSpc>
                <a:spcPct val="120000"/>
              </a:lnSpc>
              <a:defRPr sz="1400">
                <a:solidFill>
                  <a:srgbClr val="FFFFFF"/>
                </a:solidFill>
              </a:defRPr>
            </a:pPr>
            <a:r>
              <a:t>Ensure the customer understands their own level of commitment and readiness required to be successful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548640"/>
          </a:xfrm>
          <a:prstGeom prst="rect">
            <a:avLst/>
          </a:prstGeom>
          <a:noFill/>
        </p:spPr>
        <p:txBody>
          <a:bodyPr wrap="none">
            <a:spAutoFit/>
          </a:bodyPr>
          <a:lstStyle/>
          <a:p>
            <a:pPr>
              <a:defRPr sz="3600" b="1">
                <a:solidFill>
                  <a:srgbClr val="000000"/>
                </a:solidFill>
              </a:defRPr>
            </a:pPr>
            <a:r>
              <a:t>Mapping process</a:t>
            </a:r>
          </a:p>
        </p:txBody>
      </p:sp>
      <p:sp>
        <p:nvSpPr>
          <p:cNvPr id="3" name="TextBox 2"/>
          <p:cNvSpPr txBox="1"/>
          <p:nvPr/>
        </p:nvSpPr>
        <p:spPr>
          <a:xfrm>
            <a:off x="457200" y="1371600"/>
            <a:ext cx="2286000" cy="365760"/>
          </a:xfrm>
          <a:prstGeom prst="rect">
            <a:avLst/>
          </a:prstGeom>
          <a:noFill/>
        </p:spPr>
        <p:txBody>
          <a:bodyPr wrap="none">
            <a:spAutoFit/>
          </a:bodyPr>
          <a:lstStyle/>
          <a:p>
            <a:pPr algn="l">
              <a:defRPr sz="1800" b="1">
                <a:solidFill>
                  <a:srgbClr val="4472C4"/>
                </a:solidFill>
              </a:defRPr>
            </a:pPr>
            <a:r>
              <a:rPr dirty="0"/>
              <a:t>Presales</a:t>
            </a:r>
          </a:p>
        </p:txBody>
      </p:sp>
      <p:sp>
        <p:nvSpPr>
          <p:cNvPr id="4" name="TextBox 3"/>
          <p:cNvSpPr txBox="1"/>
          <p:nvPr/>
        </p:nvSpPr>
        <p:spPr>
          <a:xfrm>
            <a:off x="457200" y="1828800"/>
            <a:ext cx="548640" cy="548640"/>
          </a:xfrm>
          <a:prstGeom prst="rect">
            <a:avLst/>
          </a:prstGeom>
          <a:noFill/>
        </p:spPr>
        <p:txBody>
          <a:bodyPr wrap="none">
            <a:spAutoFit/>
          </a:bodyPr>
          <a:lstStyle/>
          <a:p>
            <a:pPr algn="l">
              <a:defRPr sz="3600"/>
            </a:pPr>
            <a:r>
              <a:rPr dirty="0"/>
              <a:t>📊</a:t>
            </a:r>
          </a:p>
        </p:txBody>
      </p:sp>
      <p:sp>
        <p:nvSpPr>
          <p:cNvPr id="5" name="TextBox 4"/>
          <p:cNvSpPr txBox="1"/>
          <p:nvPr/>
        </p:nvSpPr>
        <p:spPr>
          <a:xfrm>
            <a:off x="457200" y="2468880"/>
            <a:ext cx="2286000" cy="3636637"/>
          </a:xfrm>
          <a:prstGeom prst="rect">
            <a:avLst/>
          </a:prstGeom>
          <a:noFill/>
        </p:spPr>
        <p:txBody>
          <a:bodyPr wrap="square">
            <a:spAutoFit/>
          </a:bodyPr>
          <a:lstStyle/>
          <a:p>
            <a:pPr marL="342900" indent="-342900">
              <a:lnSpc>
                <a:spcPct val="110000"/>
              </a:lnSpc>
              <a:spcAft>
                <a:spcPts val="600"/>
              </a:spcAft>
              <a:buFont typeface="Arial" panose="020B0604020202020204" pitchFamily="34" charset="0"/>
              <a:buChar char="•"/>
              <a:defRPr sz="1000">
                <a:solidFill>
                  <a:srgbClr val="000000"/>
                </a:solidFill>
              </a:defRPr>
            </a:pPr>
            <a:r>
              <a:rPr sz="1600" dirty="0"/>
              <a:t>High-level</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Focus on customer goals</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Tell a story of a full end-to-end process</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Show the critical Dynamics components that have highest impact to customer goals</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High-level solution blueprint deliverable</a:t>
            </a:r>
          </a:p>
        </p:txBody>
      </p:sp>
      <p:sp>
        <p:nvSpPr>
          <p:cNvPr id="6" name="Right Arrow 5"/>
          <p:cNvSpPr/>
          <p:nvPr/>
        </p:nvSpPr>
        <p:spPr>
          <a:xfrm>
            <a:off x="2971800" y="3657600"/>
            <a:ext cx="548640" cy="365760"/>
          </a:xfrm>
          <a:prstGeom prst="rightArrow">
            <a:avLst/>
          </a:prstGeom>
          <a:solidFill>
            <a:srgbClr val="93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520440" y="1371600"/>
            <a:ext cx="2286000" cy="365760"/>
          </a:xfrm>
          <a:prstGeom prst="rect">
            <a:avLst/>
          </a:prstGeom>
          <a:noFill/>
        </p:spPr>
        <p:txBody>
          <a:bodyPr wrap="none">
            <a:spAutoFit/>
          </a:bodyPr>
          <a:lstStyle/>
          <a:p>
            <a:pPr algn="l">
              <a:defRPr sz="1800" b="1">
                <a:solidFill>
                  <a:srgbClr val="9365B8"/>
                </a:solidFill>
              </a:defRPr>
            </a:pPr>
            <a:r>
              <a:rPr dirty="0"/>
              <a:t>Phase Zero</a:t>
            </a:r>
          </a:p>
        </p:txBody>
      </p:sp>
      <p:sp>
        <p:nvSpPr>
          <p:cNvPr id="8" name="TextBox 7"/>
          <p:cNvSpPr txBox="1"/>
          <p:nvPr/>
        </p:nvSpPr>
        <p:spPr>
          <a:xfrm>
            <a:off x="3520440" y="2468880"/>
            <a:ext cx="2286000" cy="3713581"/>
          </a:xfrm>
          <a:prstGeom prst="rect">
            <a:avLst/>
          </a:prstGeom>
          <a:noFill/>
        </p:spPr>
        <p:txBody>
          <a:bodyPr wrap="square">
            <a:spAutoFit/>
          </a:bodyPr>
          <a:lstStyle/>
          <a:p>
            <a:pPr marL="342900" indent="-342900">
              <a:lnSpc>
                <a:spcPct val="110000"/>
              </a:lnSpc>
              <a:spcAft>
                <a:spcPts val="600"/>
              </a:spcAft>
              <a:buFont typeface="Arial" panose="020B0604020202020204" pitchFamily="34" charset="0"/>
              <a:buChar char="•"/>
              <a:defRPr sz="1000">
                <a:solidFill>
                  <a:srgbClr val="000000"/>
                </a:solidFill>
              </a:defRPr>
            </a:pPr>
            <a:r>
              <a:rPr sz="1600" dirty="0"/>
              <a:t>Start high-level</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Get more detailed</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Tell a story of a full end-to-end process</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Prioritize business critical processes earlier</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Prioritize high-impact change processes earlier</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Solution blueprint deliverable</a:t>
            </a:r>
          </a:p>
        </p:txBody>
      </p:sp>
      <p:sp>
        <p:nvSpPr>
          <p:cNvPr id="9" name="Right Arrow 8"/>
          <p:cNvSpPr/>
          <p:nvPr/>
        </p:nvSpPr>
        <p:spPr>
          <a:xfrm>
            <a:off x="6035040" y="3657600"/>
            <a:ext cx="548640" cy="365760"/>
          </a:xfrm>
          <a:prstGeom prst="rightArrow">
            <a:avLst/>
          </a:prstGeom>
          <a:solidFill>
            <a:srgbClr val="93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0" y="1371600"/>
            <a:ext cx="2286000" cy="365760"/>
          </a:xfrm>
          <a:prstGeom prst="rect">
            <a:avLst/>
          </a:prstGeom>
          <a:noFill/>
        </p:spPr>
        <p:txBody>
          <a:bodyPr wrap="none">
            <a:spAutoFit/>
          </a:bodyPr>
          <a:lstStyle/>
          <a:p>
            <a:pPr algn="l">
              <a:defRPr sz="1800" b="1">
                <a:solidFill>
                  <a:srgbClr val="4472C4"/>
                </a:solidFill>
              </a:defRPr>
            </a:pPr>
            <a:r>
              <a:rPr dirty="0"/>
              <a:t>Iterative/Ongoing</a:t>
            </a:r>
          </a:p>
        </p:txBody>
      </p:sp>
      <p:sp>
        <p:nvSpPr>
          <p:cNvPr id="11" name="TextBox 10"/>
          <p:cNvSpPr txBox="1"/>
          <p:nvPr/>
        </p:nvSpPr>
        <p:spPr>
          <a:xfrm>
            <a:off x="6583680" y="1828800"/>
            <a:ext cx="548640" cy="548640"/>
          </a:xfrm>
          <a:prstGeom prst="rect">
            <a:avLst/>
          </a:prstGeom>
          <a:noFill/>
        </p:spPr>
        <p:txBody>
          <a:bodyPr wrap="none">
            <a:spAutoFit/>
          </a:bodyPr>
          <a:lstStyle/>
          <a:p>
            <a:pPr algn="l">
              <a:defRPr sz="3600"/>
            </a:pPr>
            <a:r>
              <a:t>🔄</a:t>
            </a:r>
          </a:p>
        </p:txBody>
      </p:sp>
      <p:sp>
        <p:nvSpPr>
          <p:cNvPr id="12" name="TextBox 11"/>
          <p:cNvSpPr txBox="1"/>
          <p:nvPr/>
        </p:nvSpPr>
        <p:spPr>
          <a:xfrm>
            <a:off x="6583680" y="2468880"/>
            <a:ext cx="2286000" cy="3713581"/>
          </a:xfrm>
          <a:prstGeom prst="rect">
            <a:avLst/>
          </a:prstGeom>
          <a:noFill/>
        </p:spPr>
        <p:txBody>
          <a:bodyPr wrap="square">
            <a:spAutoFit/>
          </a:bodyPr>
          <a:lstStyle/>
          <a:p>
            <a:pPr marL="342900" indent="-342900">
              <a:lnSpc>
                <a:spcPct val="110000"/>
              </a:lnSpc>
              <a:spcAft>
                <a:spcPts val="600"/>
              </a:spcAft>
              <a:buFont typeface="Arial" panose="020B0604020202020204" pitchFamily="34" charset="0"/>
              <a:buChar char="•"/>
              <a:defRPr sz="1000">
                <a:solidFill>
                  <a:srgbClr val="000000"/>
                </a:solidFill>
              </a:defRPr>
            </a:pPr>
            <a:r>
              <a:rPr sz="1600" dirty="0"/>
              <a:t>Start high-level</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Get more detailed</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Becomes most detailed</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Prioritize business critical processes earlier</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Prioritize high-impact change processes earlier</a:t>
            </a:r>
          </a:p>
          <a:p>
            <a:pPr marL="342900" indent="-342900">
              <a:lnSpc>
                <a:spcPct val="110000"/>
              </a:lnSpc>
              <a:spcAft>
                <a:spcPts val="600"/>
              </a:spcAft>
              <a:buFont typeface="Arial" panose="020B0604020202020204" pitchFamily="34" charset="0"/>
              <a:buChar char="•"/>
              <a:defRPr sz="1000">
                <a:solidFill>
                  <a:srgbClr val="000000"/>
                </a:solidFill>
              </a:defRPr>
            </a:pPr>
            <a:r>
              <a:rPr sz="1600" dirty="0"/>
              <a:t>Refined solution blueprint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286000"/>
            <a:ext cx="2121093" cy="1200329"/>
          </a:xfrm>
          <a:prstGeom prst="rect">
            <a:avLst/>
          </a:prstGeom>
          <a:noFill/>
        </p:spPr>
        <p:txBody>
          <a:bodyPr wrap="none">
            <a:spAutoFit/>
          </a:bodyPr>
          <a:lstStyle/>
          <a:p>
            <a:pPr algn="l">
              <a:defRPr sz="3600" b="1">
                <a:solidFill>
                  <a:srgbClr val="000000"/>
                </a:solidFill>
              </a:defRPr>
            </a:pPr>
            <a:r>
              <a:rPr sz="2400" dirty="0"/>
              <a:t>Multi-</a:t>
            </a:r>
          </a:p>
          <a:p>
            <a:r>
              <a:rPr sz="2400" b="1" dirty="0">
                <a:solidFill>
                  <a:srgbClr val="000000"/>
                </a:solidFill>
              </a:rPr>
              <a:t>solution/phase</a:t>
            </a:r>
          </a:p>
          <a:p>
            <a:r>
              <a:rPr sz="2400" b="1" dirty="0">
                <a:solidFill>
                  <a:srgbClr val="000000"/>
                </a:solidFill>
              </a:rPr>
              <a:t>estimates</a:t>
            </a:r>
          </a:p>
        </p:txBody>
      </p:sp>
      <p:sp>
        <p:nvSpPr>
          <p:cNvPr id="3" name="Rectangle 2"/>
          <p:cNvSpPr/>
          <p:nvPr/>
        </p:nvSpPr>
        <p:spPr>
          <a:xfrm>
            <a:off x="2926080" y="457200"/>
            <a:ext cx="45720" cy="59436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383280" y="1097280"/>
            <a:ext cx="5303520" cy="3959417"/>
          </a:xfrm>
          <a:prstGeom prst="rect">
            <a:avLst/>
          </a:prstGeom>
          <a:noFill/>
        </p:spPr>
        <p:txBody>
          <a:bodyPr wrap="square">
            <a:spAutoFit/>
          </a:bodyPr>
          <a:lstStyle/>
          <a:p>
            <a:pPr marL="342900" indent="-342900">
              <a:lnSpc>
                <a:spcPct val="120000"/>
              </a:lnSpc>
              <a:spcAft>
                <a:spcPts val="1400"/>
              </a:spcAft>
              <a:buFont typeface="+mj-lt"/>
              <a:buAutoNum type="arabicPeriod"/>
              <a:defRPr sz="1800">
                <a:solidFill>
                  <a:srgbClr val="000000"/>
                </a:solidFill>
              </a:defRPr>
            </a:pPr>
            <a:r>
              <a:rPr dirty="0"/>
              <a:t>Consider end-to-end process rather than individual products</a:t>
            </a:r>
          </a:p>
          <a:p>
            <a:pPr marL="342900" indent="-342900">
              <a:lnSpc>
                <a:spcPct val="120000"/>
              </a:lnSpc>
              <a:spcAft>
                <a:spcPts val="1400"/>
              </a:spcAft>
              <a:buFont typeface="+mj-lt"/>
              <a:buAutoNum type="arabicPeriod"/>
              <a:defRPr sz="1800">
                <a:solidFill>
                  <a:srgbClr val="000000"/>
                </a:solidFill>
              </a:defRPr>
            </a:pPr>
            <a:r>
              <a:rPr dirty="0"/>
              <a:t>Map out the overall data model</a:t>
            </a:r>
          </a:p>
          <a:p>
            <a:pPr marL="342900" indent="-342900">
              <a:lnSpc>
                <a:spcPct val="120000"/>
              </a:lnSpc>
              <a:spcAft>
                <a:spcPts val="1400"/>
              </a:spcAft>
              <a:buFont typeface="+mj-lt"/>
              <a:buAutoNum type="arabicPeriod"/>
              <a:defRPr sz="1800">
                <a:solidFill>
                  <a:srgbClr val="000000"/>
                </a:solidFill>
              </a:defRPr>
            </a:pPr>
            <a:r>
              <a:rPr dirty="0"/>
              <a:t>Plan the roll-out strategy</a:t>
            </a:r>
          </a:p>
          <a:p>
            <a:pPr marL="342900" indent="-342900">
              <a:lnSpc>
                <a:spcPct val="120000"/>
              </a:lnSpc>
              <a:spcAft>
                <a:spcPts val="1400"/>
              </a:spcAft>
              <a:buFont typeface="+mj-lt"/>
              <a:buAutoNum type="arabicPeriod"/>
              <a:defRPr sz="1800">
                <a:solidFill>
                  <a:srgbClr val="000000"/>
                </a:solidFill>
              </a:defRPr>
            </a:pPr>
            <a:r>
              <a:rPr dirty="0"/>
              <a:t>Create workstreams with end-to-end processes that deliver business value for each phase</a:t>
            </a:r>
          </a:p>
          <a:p>
            <a:pPr marL="342900" indent="-342900">
              <a:lnSpc>
                <a:spcPct val="120000"/>
              </a:lnSpc>
              <a:spcAft>
                <a:spcPts val="1400"/>
              </a:spcAft>
              <a:buFont typeface="+mj-lt"/>
              <a:buAutoNum type="arabicPeriod"/>
              <a:defRPr sz="1800">
                <a:solidFill>
                  <a:srgbClr val="000000"/>
                </a:solidFill>
              </a:defRPr>
            </a:pPr>
            <a:r>
              <a:rPr dirty="0"/>
              <a:t>Align estimates with workstreams and deliverables</a:t>
            </a:r>
          </a:p>
          <a:p>
            <a:pPr marL="342900" indent="-342900">
              <a:lnSpc>
                <a:spcPct val="120000"/>
              </a:lnSpc>
              <a:spcAft>
                <a:spcPts val="1400"/>
              </a:spcAft>
              <a:buFont typeface="+mj-lt"/>
              <a:buAutoNum type="arabicPeriod"/>
              <a:defRPr sz="1800">
                <a:solidFill>
                  <a:srgbClr val="000000"/>
                </a:solidFill>
              </a:defRPr>
            </a:pPr>
            <a:r>
              <a:rPr dirty="0"/>
              <a:t>Review for shared resources (people, environments, etc.)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548640"/>
          </a:xfrm>
          <a:prstGeom prst="rect">
            <a:avLst/>
          </a:prstGeom>
          <a:noFill/>
        </p:spPr>
        <p:txBody>
          <a:bodyPr wrap="none">
            <a:spAutoFit/>
          </a:bodyPr>
          <a:lstStyle/>
          <a:p>
            <a:pPr>
              <a:defRPr sz="3200" b="1">
                <a:solidFill>
                  <a:srgbClr val="000000"/>
                </a:solidFill>
              </a:defRPr>
            </a:pPr>
            <a:r>
              <a:t>Recommended practices for discovery (1/2)</a:t>
            </a:r>
          </a:p>
        </p:txBody>
      </p:sp>
      <p:sp>
        <p:nvSpPr>
          <p:cNvPr id="3" name="Oval 2"/>
          <p:cNvSpPr/>
          <p:nvPr/>
        </p:nvSpPr>
        <p:spPr>
          <a:xfrm>
            <a:off x="708660" y="1189421"/>
            <a:ext cx="822960" cy="822960"/>
          </a:xfrm>
          <a:prstGeom prst="ellipse">
            <a:avLst/>
          </a:prstGeom>
          <a:solidFill>
            <a:srgbClr val="93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00100" y="1280861"/>
            <a:ext cx="640080" cy="640080"/>
          </a:xfrm>
          <a:prstGeom prst="rect">
            <a:avLst/>
          </a:prstGeom>
          <a:noFill/>
        </p:spPr>
        <p:txBody>
          <a:bodyPr wrap="none" anchor="ctr">
            <a:spAutoFit/>
          </a:bodyPr>
          <a:lstStyle/>
          <a:p>
            <a:pPr algn="ctr">
              <a:defRPr sz="2600">
                <a:solidFill>
                  <a:srgbClr val="FFFFFF"/>
                </a:solidFill>
              </a:defRPr>
            </a:pPr>
            <a:r>
              <a:rPr dirty="0"/>
              <a:t>👤</a:t>
            </a:r>
          </a:p>
        </p:txBody>
      </p:sp>
      <p:sp>
        <p:nvSpPr>
          <p:cNvPr id="5" name="TextBox 4"/>
          <p:cNvSpPr txBox="1"/>
          <p:nvPr/>
        </p:nvSpPr>
        <p:spPr>
          <a:xfrm>
            <a:off x="1668780" y="1280861"/>
            <a:ext cx="2465070" cy="821059"/>
          </a:xfrm>
          <a:prstGeom prst="rect">
            <a:avLst/>
          </a:prstGeom>
          <a:noFill/>
        </p:spPr>
        <p:txBody>
          <a:bodyPr wrap="square" anchor="t">
            <a:spAutoFit/>
          </a:bodyPr>
          <a:lstStyle/>
          <a:p>
            <a:pPr>
              <a:lnSpc>
                <a:spcPct val="115000"/>
              </a:lnSpc>
              <a:defRPr sz="1400">
                <a:solidFill>
                  <a:srgbClr val="000000"/>
                </a:solidFill>
              </a:defRPr>
            </a:pPr>
            <a:r>
              <a:rPr dirty="0"/>
              <a:t>Ensure the right team is in place to drive discovery outcomes</a:t>
            </a:r>
          </a:p>
        </p:txBody>
      </p:sp>
      <p:sp>
        <p:nvSpPr>
          <p:cNvPr id="9" name="Oval 8"/>
          <p:cNvSpPr/>
          <p:nvPr/>
        </p:nvSpPr>
        <p:spPr>
          <a:xfrm>
            <a:off x="708660" y="2287402"/>
            <a:ext cx="822960" cy="822960"/>
          </a:xfrm>
          <a:prstGeom prst="ellipse">
            <a:avLst/>
          </a:prstGeom>
          <a:solidFill>
            <a:srgbClr val="93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0100" y="2378842"/>
            <a:ext cx="640080" cy="640080"/>
          </a:xfrm>
          <a:prstGeom prst="rect">
            <a:avLst/>
          </a:prstGeom>
          <a:noFill/>
        </p:spPr>
        <p:txBody>
          <a:bodyPr wrap="none" anchor="ctr">
            <a:spAutoFit/>
          </a:bodyPr>
          <a:lstStyle/>
          <a:p>
            <a:pPr algn="ctr">
              <a:defRPr sz="2600">
                <a:solidFill>
                  <a:srgbClr val="FFFFFF"/>
                </a:solidFill>
              </a:defRPr>
            </a:pPr>
            <a:r>
              <a:rPr dirty="0"/>
              <a:t>📋</a:t>
            </a:r>
          </a:p>
        </p:txBody>
      </p:sp>
      <p:sp>
        <p:nvSpPr>
          <p:cNvPr id="11" name="TextBox 10"/>
          <p:cNvSpPr txBox="1"/>
          <p:nvPr/>
        </p:nvSpPr>
        <p:spPr>
          <a:xfrm>
            <a:off x="1691640" y="2273264"/>
            <a:ext cx="2219960" cy="821059"/>
          </a:xfrm>
          <a:prstGeom prst="rect">
            <a:avLst/>
          </a:prstGeom>
          <a:noFill/>
        </p:spPr>
        <p:txBody>
          <a:bodyPr wrap="square" anchor="t">
            <a:spAutoFit/>
          </a:bodyPr>
          <a:lstStyle/>
          <a:p>
            <a:pPr>
              <a:lnSpc>
                <a:spcPct val="115000"/>
              </a:lnSpc>
              <a:defRPr sz="1400">
                <a:solidFill>
                  <a:srgbClr val="000000"/>
                </a:solidFill>
              </a:defRPr>
            </a:pPr>
            <a:r>
              <a:rPr dirty="0"/>
              <a:t>Include Change Management workstream in the planning step</a:t>
            </a:r>
          </a:p>
        </p:txBody>
      </p:sp>
      <p:sp>
        <p:nvSpPr>
          <p:cNvPr id="12" name="Oval 11"/>
          <p:cNvSpPr/>
          <p:nvPr/>
        </p:nvSpPr>
        <p:spPr>
          <a:xfrm>
            <a:off x="5264150" y="1183328"/>
            <a:ext cx="822960" cy="822960"/>
          </a:xfrm>
          <a:prstGeom prst="ellipse">
            <a:avLst/>
          </a:prstGeom>
          <a:solidFill>
            <a:srgbClr val="445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87010" y="1246410"/>
            <a:ext cx="640080" cy="640080"/>
          </a:xfrm>
          <a:prstGeom prst="rect">
            <a:avLst/>
          </a:prstGeom>
          <a:noFill/>
        </p:spPr>
        <p:txBody>
          <a:bodyPr wrap="none" anchor="ctr">
            <a:spAutoFit/>
          </a:bodyPr>
          <a:lstStyle/>
          <a:p>
            <a:pPr algn="ctr">
              <a:defRPr sz="2600">
                <a:solidFill>
                  <a:srgbClr val="FFFFFF"/>
                </a:solidFill>
              </a:defRPr>
            </a:pPr>
            <a:r>
              <a:rPr dirty="0"/>
              <a:t>✍️</a:t>
            </a:r>
          </a:p>
        </p:txBody>
      </p:sp>
      <p:sp>
        <p:nvSpPr>
          <p:cNvPr id="14" name="TextBox 13"/>
          <p:cNvSpPr txBox="1"/>
          <p:nvPr/>
        </p:nvSpPr>
        <p:spPr>
          <a:xfrm>
            <a:off x="6247130" y="1183328"/>
            <a:ext cx="2141220" cy="821059"/>
          </a:xfrm>
          <a:prstGeom prst="rect">
            <a:avLst/>
          </a:prstGeom>
          <a:noFill/>
        </p:spPr>
        <p:txBody>
          <a:bodyPr wrap="square" anchor="t">
            <a:spAutoFit/>
          </a:bodyPr>
          <a:lstStyle/>
          <a:p>
            <a:pPr>
              <a:lnSpc>
                <a:spcPct val="115000"/>
              </a:lnSpc>
              <a:defRPr sz="1400">
                <a:solidFill>
                  <a:srgbClr val="000000"/>
                </a:solidFill>
              </a:defRPr>
            </a:pPr>
            <a:r>
              <a:rPr dirty="0"/>
              <a:t>Include requirement documentation workshop in the workshop planning</a:t>
            </a:r>
          </a:p>
        </p:txBody>
      </p:sp>
      <p:sp>
        <p:nvSpPr>
          <p:cNvPr id="25" name="Oval 24"/>
          <p:cNvSpPr/>
          <p:nvPr/>
        </p:nvSpPr>
        <p:spPr>
          <a:xfrm>
            <a:off x="708660" y="3335208"/>
            <a:ext cx="845527" cy="822960"/>
          </a:xfrm>
          <a:prstGeom prst="ellipse">
            <a:avLst/>
          </a:prstGeom>
          <a:solidFill>
            <a:srgbClr val="445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98831" y="3500466"/>
            <a:ext cx="657632" cy="492443"/>
          </a:xfrm>
          <a:prstGeom prst="rect">
            <a:avLst/>
          </a:prstGeom>
          <a:noFill/>
        </p:spPr>
        <p:txBody>
          <a:bodyPr wrap="square" anchor="ctr">
            <a:spAutoFit/>
          </a:bodyPr>
          <a:lstStyle/>
          <a:p>
            <a:pPr algn="ctr">
              <a:defRPr sz="2600">
                <a:solidFill>
                  <a:srgbClr val="FFFFFF"/>
                </a:solidFill>
              </a:defRPr>
            </a:pPr>
            <a:r>
              <a:rPr dirty="0"/>
              <a:t>📁</a:t>
            </a:r>
          </a:p>
        </p:txBody>
      </p:sp>
      <p:sp>
        <p:nvSpPr>
          <p:cNvPr id="27" name="TextBox 26"/>
          <p:cNvSpPr txBox="1"/>
          <p:nvPr/>
        </p:nvSpPr>
        <p:spPr>
          <a:xfrm>
            <a:off x="1645628" y="3337109"/>
            <a:ext cx="1972603" cy="821059"/>
          </a:xfrm>
          <a:prstGeom prst="rect">
            <a:avLst/>
          </a:prstGeom>
          <a:noFill/>
        </p:spPr>
        <p:txBody>
          <a:bodyPr wrap="square" anchor="t">
            <a:spAutoFit/>
          </a:bodyPr>
          <a:lstStyle/>
          <a:p>
            <a:pPr>
              <a:lnSpc>
                <a:spcPct val="115000"/>
              </a:lnSpc>
              <a:defRPr sz="1400">
                <a:solidFill>
                  <a:srgbClr val="000000"/>
                </a:solidFill>
              </a:defRPr>
            </a:pPr>
            <a:r>
              <a:rPr dirty="0"/>
              <a:t>Record the sessions and upload to the project document repository</a:t>
            </a:r>
          </a:p>
        </p:txBody>
      </p:sp>
      <p:sp>
        <p:nvSpPr>
          <p:cNvPr id="28" name="Oval 27"/>
          <p:cNvSpPr/>
          <p:nvPr/>
        </p:nvSpPr>
        <p:spPr>
          <a:xfrm>
            <a:off x="5265420" y="2282128"/>
            <a:ext cx="822960" cy="822960"/>
          </a:xfrm>
          <a:prstGeom prst="ellipse">
            <a:avLst/>
          </a:prstGeom>
          <a:solidFill>
            <a:srgbClr val="445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356860" y="2373568"/>
            <a:ext cx="640080" cy="640080"/>
          </a:xfrm>
          <a:prstGeom prst="rect">
            <a:avLst/>
          </a:prstGeom>
          <a:noFill/>
        </p:spPr>
        <p:txBody>
          <a:bodyPr wrap="none" anchor="ctr">
            <a:spAutoFit/>
          </a:bodyPr>
          <a:lstStyle/>
          <a:p>
            <a:pPr algn="ctr">
              <a:defRPr sz="2600">
                <a:solidFill>
                  <a:srgbClr val="FFFFFF"/>
                </a:solidFill>
              </a:defRPr>
            </a:pPr>
            <a:r>
              <a:rPr dirty="0"/>
              <a:t>📸</a:t>
            </a:r>
          </a:p>
        </p:txBody>
      </p:sp>
      <p:sp>
        <p:nvSpPr>
          <p:cNvPr id="30" name="TextBox 29"/>
          <p:cNvSpPr txBox="1"/>
          <p:nvPr/>
        </p:nvSpPr>
        <p:spPr>
          <a:xfrm>
            <a:off x="6202387" y="2306258"/>
            <a:ext cx="1972603" cy="821059"/>
          </a:xfrm>
          <a:prstGeom prst="rect">
            <a:avLst/>
          </a:prstGeom>
          <a:noFill/>
        </p:spPr>
        <p:txBody>
          <a:bodyPr wrap="square" anchor="t">
            <a:spAutoFit/>
          </a:bodyPr>
          <a:lstStyle/>
          <a:p>
            <a:pPr>
              <a:lnSpc>
                <a:spcPct val="115000"/>
              </a:lnSpc>
              <a:defRPr sz="1400">
                <a:solidFill>
                  <a:srgbClr val="000000"/>
                </a:solidFill>
              </a:defRPr>
            </a:pPr>
            <a:r>
              <a:rPr dirty="0"/>
              <a:t>Capture all relevant information in ADO/repository</a:t>
            </a:r>
          </a:p>
        </p:txBody>
      </p:sp>
      <p:sp>
        <p:nvSpPr>
          <p:cNvPr id="31" name="Oval 30"/>
          <p:cNvSpPr/>
          <p:nvPr/>
        </p:nvSpPr>
        <p:spPr>
          <a:xfrm>
            <a:off x="5287010" y="3350709"/>
            <a:ext cx="822960" cy="822960"/>
          </a:xfrm>
          <a:prstGeom prst="ellipse">
            <a:avLst/>
          </a:prstGeom>
          <a:solidFill>
            <a:srgbClr val="445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378450" y="3442149"/>
            <a:ext cx="640080" cy="640080"/>
          </a:xfrm>
          <a:prstGeom prst="rect">
            <a:avLst/>
          </a:prstGeom>
          <a:noFill/>
        </p:spPr>
        <p:txBody>
          <a:bodyPr wrap="none" anchor="ctr">
            <a:spAutoFit/>
          </a:bodyPr>
          <a:lstStyle/>
          <a:p>
            <a:pPr algn="ctr">
              <a:defRPr sz="2600">
                <a:solidFill>
                  <a:srgbClr val="FFFFFF"/>
                </a:solidFill>
              </a:defRPr>
            </a:pPr>
            <a:r>
              <a:rPr dirty="0"/>
              <a:t>🔗</a:t>
            </a:r>
          </a:p>
        </p:txBody>
      </p:sp>
      <p:sp>
        <p:nvSpPr>
          <p:cNvPr id="33" name="TextBox 32"/>
          <p:cNvSpPr txBox="1"/>
          <p:nvPr/>
        </p:nvSpPr>
        <p:spPr>
          <a:xfrm>
            <a:off x="6247130" y="3335208"/>
            <a:ext cx="2141220" cy="2059859"/>
          </a:xfrm>
          <a:prstGeom prst="rect">
            <a:avLst/>
          </a:prstGeom>
          <a:noFill/>
        </p:spPr>
        <p:txBody>
          <a:bodyPr wrap="square" anchor="t">
            <a:spAutoFit/>
          </a:bodyPr>
          <a:lstStyle/>
          <a:p>
            <a:pPr>
              <a:lnSpc>
                <a:spcPct val="115000"/>
              </a:lnSpc>
              <a:defRPr sz="1400">
                <a:solidFill>
                  <a:srgbClr val="000000"/>
                </a:solidFill>
              </a:defRPr>
            </a:pPr>
            <a:r>
              <a:rPr dirty="0"/>
              <a:t>The solution blueprint should contain all areas of the solution, including but not limited to external integrations, interfaces, data migrations, and other interactions with Dynamics 365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 name="Rectangle 69">
            <a:extLst>
              <a:ext uri="{FF2B5EF4-FFF2-40B4-BE49-F238E27FC236}">
                <a16:creationId xmlns:a16="http://schemas.microsoft.com/office/drawing/2014/main" id="{2AE4878D-3AED-2E27-4725-7D83B28F6B8C}"/>
              </a:ext>
            </a:extLst>
          </p:cNvPr>
          <p:cNvSpPr/>
          <p:nvPr/>
        </p:nvSpPr>
        <p:spPr>
          <a:xfrm>
            <a:off x="306435" y="4630947"/>
            <a:ext cx="4335415" cy="1617452"/>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8CE92DEC-019B-6DAC-345B-CB552D2AB4C2}"/>
              </a:ext>
            </a:extLst>
          </p:cNvPr>
          <p:cNvSpPr/>
          <p:nvPr/>
        </p:nvSpPr>
        <p:spPr>
          <a:xfrm>
            <a:off x="7004051" y="1071729"/>
            <a:ext cx="2076448" cy="167336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99796772-A7FA-155C-3474-EA15C914A3B2}"/>
              </a:ext>
            </a:extLst>
          </p:cNvPr>
          <p:cNvSpPr/>
          <p:nvPr/>
        </p:nvSpPr>
        <p:spPr>
          <a:xfrm>
            <a:off x="306435" y="2728801"/>
            <a:ext cx="8774064" cy="1902146"/>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extBox 1"/>
          <p:cNvSpPr txBox="1"/>
          <p:nvPr/>
        </p:nvSpPr>
        <p:spPr>
          <a:xfrm>
            <a:off x="457200" y="274320"/>
            <a:ext cx="8229600" cy="457200"/>
          </a:xfrm>
          <a:prstGeom prst="rect">
            <a:avLst/>
          </a:prstGeom>
          <a:noFill/>
        </p:spPr>
        <p:txBody>
          <a:bodyPr wrap="none">
            <a:spAutoFit/>
          </a:bodyPr>
          <a:lstStyle/>
          <a:p>
            <a:pPr>
              <a:defRPr sz="3200" b="1">
                <a:solidFill>
                  <a:srgbClr val="000000"/>
                </a:solidFill>
              </a:defRPr>
            </a:pPr>
            <a:r>
              <a:t>The discovery process</a:t>
            </a:r>
          </a:p>
        </p:txBody>
      </p:sp>
      <p:sp>
        <p:nvSpPr>
          <p:cNvPr id="3" name="Rounded Rectangle 2"/>
          <p:cNvSpPr/>
          <p:nvPr/>
        </p:nvSpPr>
        <p:spPr>
          <a:xfrm>
            <a:off x="352155" y="1514354"/>
            <a:ext cx="1828800" cy="685801"/>
          </a:xfrm>
          <a:prstGeom prst="roundRect">
            <a:avLst/>
          </a:prstGeom>
          <a:solidFill>
            <a:srgbClr val="9365B8"/>
          </a:solidFill>
          <a:ln w="12700">
            <a:solidFill>
              <a:srgbClr val="9365B8"/>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Entry criteria</a:t>
            </a:r>
          </a:p>
        </p:txBody>
      </p:sp>
      <p:sp>
        <p:nvSpPr>
          <p:cNvPr id="5" name="Rounded Rectangle 4"/>
          <p:cNvSpPr/>
          <p:nvPr/>
        </p:nvSpPr>
        <p:spPr>
          <a:xfrm>
            <a:off x="2621375" y="1514356"/>
            <a:ext cx="1828800" cy="685801"/>
          </a:xfrm>
          <a:prstGeom prst="roundRect">
            <a:avLst/>
          </a:prstGeom>
          <a:solidFill>
            <a:srgbClr val="9365B8"/>
          </a:solidFill>
          <a:ln w="12700">
            <a:solidFill>
              <a:srgbClr val="9365B8"/>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Kick off meeting</a:t>
            </a:r>
          </a:p>
        </p:txBody>
      </p:sp>
      <p:sp>
        <p:nvSpPr>
          <p:cNvPr id="7" name="Rounded Rectangle 6"/>
          <p:cNvSpPr/>
          <p:nvPr/>
        </p:nvSpPr>
        <p:spPr>
          <a:xfrm>
            <a:off x="4890595" y="1514355"/>
            <a:ext cx="1828800" cy="685801"/>
          </a:xfrm>
          <a:prstGeom prst="roundRect">
            <a:avLst/>
          </a:prstGeom>
          <a:solidFill>
            <a:srgbClr val="9365B8"/>
          </a:solidFill>
          <a:ln w="12700">
            <a:solidFill>
              <a:srgbClr val="9365B8"/>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Baseline solution architecture</a:t>
            </a:r>
          </a:p>
        </p:txBody>
      </p:sp>
      <p:sp>
        <p:nvSpPr>
          <p:cNvPr id="9" name="Rounded Rectangle 8"/>
          <p:cNvSpPr/>
          <p:nvPr/>
        </p:nvSpPr>
        <p:spPr>
          <a:xfrm>
            <a:off x="7173420" y="1514354"/>
            <a:ext cx="1828800" cy="685801"/>
          </a:xfrm>
          <a:prstGeom prst="roundRect">
            <a:avLst/>
          </a:prstGeom>
          <a:solidFill>
            <a:srgbClr val="9365B8"/>
          </a:solidFill>
          <a:ln w="12700">
            <a:solidFill>
              <a:srgbClr val="9365B8"/>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Plan discovery workshops</a:t>
            </a:r>
          </a:p>
        </p:txBody>
      </p:sp>
      <p:sp>
        <p:nvSpPr>
          <p:cNvPr id="12" name="Rounded Rectangle 11"/>
          <p:cNvSpPr/>
          <p:nvPr/>
        </p:nvSpPr>
        <p:spPr>
          <a:xfrm>
            <a:off x="372110" y="3301998"/>
            <a:ext cx="1828800" cy="685801"/>
          </a:xfrm>
          <a:prstGeom prst="roundRect">
            <a:avLst/>
          </a:prstGeom>
          <a:solidFill>
            <a:srgbClr val="445484"/>
          </a:solidFill>
          <a:ln w="12700">
            <a:solidFill>
              <a:srgbClr val="44548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Conduct discovery workshops</a:t>
            </a:r>
          </a:p>
        </p:txBody>
      </p:sp>
      <p:sp>
        <p:nvSpPr>
          <p:cNvPr id="14" name="Rounded Rectangle 13"/>
          <p:cNvSpPr/>
          <p:nvPr/>
        </p:nvSpPr>
        <p:spPr>
          <a:xfrm>
            <a:off x="2634980" y="3301997"/>
            <a:ext cx="1828800" cy="685801"/>
          </a:xfrm>
          <a:prstGeom prst="roundRect">
            <a:avLst/>
          </a:prstGeom>
          <a:solidFill>
            <a:srgbClr val="445484"/>
          </a:solidFill>
          <a:ln w="12700">
            <a:solidFill>
              <a:srgbClr val="44548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Capture business outcomes and requirements</a:t>
            </a:r>
          </a:p>
        </p:txBody>
      </p:sp>
      <p:sp>
        <p:nvSpPr>
          <p:cNvPr id="16" name="Rounded Rectangle 15"/>
          <p:cNvSpPr/>
          <p:nvPr/>
        </p:nvSpPr>
        <p:spPr>
          <a:xfrm>
            <a:off x="4904200" y="3301998"/>
            <a:ext cx="1828800" cy="685801"/>
          </a:xfrm>
          <a:prstGeom prst="roundRect">
            <a:avLst/>
          </a:prstGeom>
          <a:solidFill>
            <a:srgbClr val="445484"/>
          </a:solidFill>
          <a:ln w="12700">
            <a:solidFill>
              <a:srgbClr val="44548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Create initial solution configuration</a:t>
            </a:r>
          </a:p>
        </p:txBody>
      </p:sp>
      <p:sp>
        <p:nvSpPr>
          <p:cNvPr id="18" name="Rounded Rectangle 17"/>
          <p:cNvSpPr/>
          <p:nvPr/>
        </p:nvSpPr>
        <p:spPr>
          <a:xfrm>
            <a:off x="7173420" y="3304691"/>
            <a:ext cx="1828800" cy="685801"/>
          </a:xfrm>
          <a:prstGeom prst="roundRect">
            <a:avLst/>
          </a:prstGeom>
          <a:solidFill>
            <a:srgbClr val="445484"/>
          </a:solidFill>
          <a:ln w="12700">
            <a:solidFill>
              <a:srgbClr val="44548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Gather and import customer data</a:t>
            </a:r>
          </a:p>
        </p:txBody>
      </p:sp>
      <p:sp>
        <p:nvSpPr>
          <p:cNvPr id="20" name="Rounded Rectangle 19"/>
          <p:cNvSpPr/>
          <p:nvPr/>
        </p:nvSpPr>
        <p:spPr>
          <a:xfrm>
            <a:off x="372110" y="5019811"/>
            <a:ext cx="1828800" cy="685801"/>
          </a:xfrm>
          <a:prstGeom prst="roundRect">
            <a:avLst/>
          </a:prstGeom>
          <a:solidFill>
            <a:srgbClr val="4F81BD"/>
          </a:solidFill>
          <a:ln w="12700">
            <a:solidFill>
              <a:srgbClr val="4F81B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Demo initial solution configuration</a:t>
            </a:r>
          </a:p>
        </p:txBody>
      </p:sp>
      <p:sp>
        <p:nvSpPr>
          <p:cNvPr id="21" name="Rounded Rectangle 20"/>
          <p:cNvSpPr/>
          <p:nvPr/>
        </p:nvSpPr>
        <p:spPr>
          <a:xfrm>
            <a:off x="2641330" y="5019810"/>
            <a:ext cx="1828800" cy="685801"/>
          </a:xfrm>
          <a:prstGeom prst="roundRect">
            <a:avLst/>
          </a:prstGeom>
          <a:solidFill>
            <a:srgbClr val="4F81BD"/>
          </a:solidFill>
          <a:ln w="12700">
            <a:solidFill>
              <a:srgbClr val="4F81B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Document risks, actions, issues, and decisions (RAID)</a:t>
            </a:r>
          </a:p>
        </p:txBody>
      </p:sp>
      <p:cxnSp>
        <p:nvCxnSpPr>
          <p:cNvPr id="25" name="Connector 24"/>
          <p:cNvCxnSpPr/>
          <p:nvPr/>
        </p:nvCxnSpPr>
        <p:spPr>
          <a:xfrm>
            <a:off x="0" y="2194560"/>
            <a:ext cx="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6217920" y="0"/>
            <a:ext cx="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032374" y="5019811"/>
            <a:ext cx="1828800" cy="685801"/>
          </a:xfrm>
          <a:prstGeom prst="roundRect">
            <a:avLst/>
          </a:prstGeom>
          <a:solidFill>
            <a:srgbClr val="5B9BD5"/>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Estimate the effort</a:t>
            </a:r>
          </a:p>
        </p:txBody>
      </p:sp>
      <p:sp>
        <p:nvSpPr>
          <p:cNvPr id="28" name="Rounded Rectangle 27"/>
          <p:cNvSpPr/>
          <p:nvPr/>
        </p:nvSpPr>
        <p:spPr>
          <a:xfrm>
            <a:off x="7268669" y="5019809"/>
            <a:ext cx="1828800" cy="685801"/>
          </a:xfrm>
          <a:prstGeom prst="roundRect">
            <a:avLst/>
          </a:prstGeom>
          <a:solidFill>
            <a:srgbClr val="5B9BD5"/>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lnSpc>
                <a:spcPct val="95000"/>
              </a:lnSpc>
              <a:defRPr sz="1000">
                <a:solidFill>
                  <a:srgbClr val="FFFFFF"/>
                </a:solidFill>
              </a:defRPr>
            </a:pPr>
            <a:r>
              <a:rPr sz="1600" dirty="0"/>
              <a:t>Exit criteria</a:t>
            </a:r>
          </a:p>
        </p:txBody>
      </p:sp>
      <p:pic>
        <p:nvPicPr>
          <p:cNvPr id="33" name="Graphic 32" descr="Continuous Improvement with solid fill">
            <a:extLst>
              <a:ext uri="{FF2B5EF4-FFF2-40B4-BE49-F238E27FC236}">
                <a16:creationId xmlns:a16="http://schemas.microsoft.com/office/drawing/2014/main" id="{2C61F42D-4BFC-CDFB-F6D6-C3A11C737D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9948" y="2476411"/>
            <a:ext cx="1125221" cy="1125221"/>
          </a:xfrm>
          <a:prstGeom prst="rect">
            <a:avLst/>
          </a:prstGeom>
        </p:spPr>
      </p:pic>
      <p:cxnSp>
        <p:nvCxnSpPr>
          <p:cNvPr id="39" name="Connector: Elbow 38">
            <a:extLst>
              <a:ext uri="{FF2B5EF4-FFF2-40B4-BE49-F238E27FC236}">
                <a16:creationId xmlns:a16="http://schemas.microsoft.com/office/drawing/2014/main" id="{BCC4DA12-0F95-D7C9-49AA-F110F972B3E0}"/>
              </a:ext>
            </a:extLst>
          </p:cNvPr>
          <p:cNvCxnSpPr>
            <a:stCxn id="3" idx="3"/>
            <a:endCxn id="5" idx="1"/>
          </p:cNvCxnSpPr>
          <p:nvPr/>
        </p:nvCxnSpPr>
        <p:spPr>
          <a:xfrm>
            <a:off x="2180955" y="1857255"/>
            <a:ext cx="440420" cy="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8542C9EA-1092-CB3C-D300-FC1B5F34F2B0}"/>
              </a:ext>
            </a:extLst>
          </p:cNvPr>
          <p:cNvCxnSpPr>
            <a:stCxn id="5" idx="3"/>
            <a:endCxn id="7" idx="1"/>
          </p:cNvCxnSpPr>
          <p:nvPr/>
        </p:nvCxnSpPr>
        <p:spPr>
          <a:xfrm flipV="1">
            <a:off x="4450175" y="1857256"/>
            <a:ext cx="440420" cy="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onnector: Elbow 44">
            <a:extLst>
              <a:ext uri="{FF2B5EF4-FFF2-40B4-BE49-F238E27FC236}">
                <a16:creationId xmlns:a16="http://schemas.microsoft.com/office/drawing/2014/main" id="{4AD8141B-F97D-EF7E-66D0-CFCD18B7FA7A}"/>
              </a:ext>
            </a:extLst>
          </p:cNvPr>
          <p:cNvCxnSpPr>
            <a:stCxn id="7" idx="3"/>
            <a:endCxn id="9" idx="1"/>
          </p:cNvCxnSpPr>
          <p:nvPr/>
        </p:nvCxnSpPr>
        <p:spPr>
          <a:xfrm flipV="1">
            <a:off x="6719395" y="1857255"/>
            <a:ext cx="454025" cy="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Connector: Elbow 46">
            <a:extLst>
              <a:ext uri="{FF2B5EF4-FFF2-40B4-BE49-F238E27FC236}">
                <a16:creationId xmlns:a16="http://schemas.microsoft.com/office/drawing/2014/main" id="{C687A835-5E88-C446-B349-92E440750523}"/>
              </a:ext>
            </a:extLst>
          </p:cNvPr>
          <p:cNvCxnSpPr>
            <a:stCxn id="9" idx="2"/>
            <a:endCxn id="18" idx="0"/>
          </p:cNvCxnSpPr>
          <p:nvPr/>
        </p:nvCxnSpPr>
        <p:spPr>
          <a:xfrm rot="5400000">
            <a:off x="7535552" y="2752423"/>
            <a:ext cx="1104536"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Connector: Elbow 48">
            <a:extLst>
              <a:ext uri="{FF2B5EF4-FFF2-40B4-BE49-F238E27FC236}">
                <a16:creationId xmlns:a16="http://schemas.microsoft.com/office/drawing/2014/main" id="{07B82CDB-CECB-9C4C-3B9E-4DA3730C80D0}"/>
              </a:ext>
            </a:extLst>
          </p:cNvPr>
          <p:cNvCxnSpPr>
            <a:stCxn id="18" idx="1"/>
            <a:endCxn id="16" idx="3"/>
          </p:cNvCxnSpPr>
          <p:nvPr/>
        </p:nvCxnSpPr>
        <p:spPr>
          <a:xfrm rot="10800000">
            <a:off x="6733000" y="3644900"/>
            <a:ext cx="440420" cy="269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7CFF1717-D21A-2D68-620E-C00E484B7F55}"/>
              </a:ext>
            </a:extLst>
          </p:cNvPr>
          <p:cNvCxnSpPr>
            <a:stCxn id="16" idx="1"/>
            <a:endCxn id="14" idx="3"/>
          </p:cNvCxnSpPr>
          <p:nvPr/>
        </p:nvCxnSpPr>
        <p:spPr>
          <a:xfrm rot="10800000">
            <a:off x="4463780" y="3644899"/>
            <a:ext cx="440420" cy="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FF499F4A-261A-960F-1CAE-D26939970F2A}"/>
              </a:ext>
            </a:extLst>
          </p:cNvPr>
          <p:cNvCxnSpPr>
            <a:stCxn id="14" idx="1"/>
            <a:endCxn id="12" idx="3"/>
          </p:cNvCxnSpPr>
          <p:nvPr/>
        </p:nvCxnSpPr>
        <p:spPr>
          <a:xfrm rot="10800000" flipV="1">
            <a:off x="2200910" y="3644897"/>
            <a:ext cx="434070" cy="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Connector: Elbow 54">
            <a:extLst>
              <a:ext uri="{FF2B5EF4-FFF2-40B4-BE49-F238E27FC236}">
                <a16:creationId xmlns:a16="http://schemas.microsoft.com/office/drawing/2014/main" id="{DDDF5F40-4242-B3B4-C7CA-07BD23B12A1F}"/>
              </a:ext>
            </a:extLst>
          </p:cNvPr>
          <p:cNvCxnSpPr>
            <a:stCxn id="12" idx="2"/>
            <a:endCxn id="20" idx="0"/>
          </p:cNvCxnSpPr>
          <p:nvPr/>
        </p:nvCxnSpPr>
        <p:spPr>
          <a:xfrm rot="5400000">
            <a:off x="770504" y="4503805"/>
            <a:ext cx="1032012"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Connector: Elbow 56">
            <a:extLst>
              <a:ext uri="{FF2B5EF4-FFF2-40B4-BE49-F238E27FC236}">
                <a16:creationId xmlns:a16="http://schemas.microsoft.com/office/drawing/2014/main" id="{67B054FE-489B-09BF-CE96-52A95F452A35}"/>
              </a:ext>
            </a:extLst>
          </p:cNvPr>
          <p:cNvCxnSpPr>
            <a:stCxn id="20" idx="3"/>
            <a:endCxn id="21" idx="1"/>
          </p:cNvCxnSpPr>
          <p:nvPr/>
        </p:nvCxnSpPr>
        <p:spPr>
          <a:xfrm flipV="1">
            <a:off x="2200910" y="5362711"/>
            <a:ext cx="440420" cy="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Connector: Elbow 58">
            <a:extLst>
              <a:ext uri="{FF2B5EF4-FFF2-40B4-BE49-F238E27FC236}">
                <a16:creationId xmlns:a16="http://schemas.microsoft.com/office/drawing/2014/main" id="{349CFFD8-A002-31E7-66DD-4684C21A43D3}"/>
              </a:ext>
            </a:extLst>
          </p:cNvPr>
          <p:cNvCxnSpPr>
            <a:stCxn id="21" idx="3"/>
            <a:endCxn id="27" idx="1"/>
          </p:cNvCxnSpPr>
          <p:nvPr/>
        </p:nvCxnSpPr>
        <p:spPr>
          <a:xfrm>
            <a:off x="4470130" y="5362711"/>
            <a:ext cx="562244" cy="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Connector: Elbow 60">
            <a:extLst>
              <a:ext uri="{FF2B5EF4-FFF2-40B4-BE49-F238E27FC236}">
                <a16:creationId xmlns:a16="http://schemas.microsoft.com/office/drawing/2014/main" id="{D1B9C166-CD1B-3CC3-B20A-B6594740B531}"/>
              </a:ext>
            </a:extLst>
          </p:cNvPr>
          <p:cNvCxnSpPr>
            <a:cxnSpLocks/>
            <a:stCxn id="27" idx="3"/>
            <a:endCxn id="28" idx="1"/>
          </p:cNvCxnSpPr>
          <p:nvPr/>
        </p:nvCxnSpPr>
        <p:spPr>
          <a:xfrm flipV="1">
            <a:off x="6861174" y="5362710"/>
            <a:ext cx="407495" cy="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none">
            <a:spAutoFit/>
          </a:bodyPr>
          <a:lstStyle/>
          <a:p>
            <a:pPr algn="l">
              <a:defRPr sz="3200" b="1">
                <a:solidFill>
                  <a:srgbClr val="4472C4"/>
                </a:solidFill>
              </a:defRPr>
            </a:pPr>
            <a:r>
              <a:rPr dirty="0"/>
              <a:t>Presales discovery entry criteria check list</a:t>
            </a:r>
          </a:p>
        </p:txBody>
      </p:sp>
      <p:graphicFrame>
        <p:nvGraphicFramePr>
          <p:cNvPr id="3" name="Table 2"/>
          <p:cNvGraphicFramePr>
            <a:graphicFrameLocks noGrp="1"/>
          </p:cNvGraphicFramePr>
          <p:nvPr>
            <p:extLst>
              <p:ext uri="{D42A27DB-BD31-4B8C-83A1-F6EECF244321}">
                <p14:modId xmlns:p14="http://schemas.microsoft.com/office/powerpoint/2010/main" val="3957784144"/>
              </p:ext>
            </p:extLst>
          </p:nvPr>
        </p:nvGraphicFramePr>
        <p:xfrm>
          <a:off x="552450" y="1371600"/>
          <a:ext cx="8134350" cy="4572000"/>
        </p:xfrm>
        <a:graphic>
          <a:graphicData uri="http://schemas.openxmlformats.org/drawingml/2006/table">
            <a:tbl>
              <a:tblPr firstRow="1" bandRow="1">
                <a:tableStyleId>{5C22544A-7EE6-4342-B048-85BDC9FD1C3A}</a:tableStyleId>
              </a:tblPr>
              <a:tblGrid>
                <a:gridCol w="219075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762000">
                <a:tc>
                  <a:txBody>
                    <a:bodyPr/>
                    <a:lstStyle/>
                    <a:p>
                      <a:pPr algn="l">
                        <a:defRPr sz="1400" b="1">
                          <a:solidFill>
                            <a:srgbClr val="000000"/>
                          </a:solidFill>
                        </a:defRPr>
                      </a:pPr>
                      <a:r>
                        <a:rPr dirty="0"/>
                        <a:t>Entry criteria</a:t>
                      </a:r>
                    </a:p>
                  </a:txBody>
                  <a:tcPr>
                    <a:solidFill>
                      <a:srgbClr val="FFFFFF"/>
                    </a:solidFill>
                  </a:tcPr>
                </a:tc>
                <a:tc>
                  <a:txBody>
                    <a:bodyPr/>
                    <a:lstStyle/>
                    <a:p>
                      <a:pPr algn="l">
                        <a:defRPr sz="1400" b="1">
                          <a:solidFill>
                            <a:srgbClr val="000000"/>
                          </a:solidFill>
                        </a:defRPr>
                      </a:pPr>
                      <a:r>
                        <a:rPr dirty="0"/>
                        <a:t>Description</a:t>
                      </a:r>
                    </a:p>
                  </a:txBody>
                  <a:tcPr>
                    <a:solidFill>
                      <a:srgbClr val="FFFFFF"/>
                    </a:solidFill>
                  </a:tcPr>
                </a:tc>
                <a:extLst>
                  <a:ext uri="{0D108BD9-81ED-4DB2-BD59-A6C34878D82A}">
                    <a16:rowId xmlns:a16="http://schemas.microsoft.com/office/drawing/2014/main" val="10000"/>
                  </a:ext>
                </a:extLst>
              </a:tr>
              <a:tr h="762000">
                <a:tc>
                  <a:txBody>
                    <a:bodyPr/>
                    <a:lstStyle/>
                    <a:p>
                      <a:pPr algn="l">
                        <a:defRPr sz="1200" b="0">
                          <a:solidFill>
                            <a:srgbClr val="000000"/>
                          </a:solidFill>
                        </a:defRPr>
                      </a:pPr>
                      <a:r>
                        <a:rPr dirty="0"/>
                        <a:t>Deal qualified</a:t>
                      </a:r>
                    </a:p>
                  </a:txBody>
                  <a:tcPr>
                    <a:solidFill>
                      <a:srgbClr val="FFFFFF"/>
                    </a:solidFill>
                  </a:tcPr>
                </a:tc>
                <a:tc>
                  <a:txBody>
                    <a:bodyPr/>
                    <a:lstStyle/>
                    <a:p>
                      <a:pPr algn="l">
                        <a:defRPr sz="1100">
                          <a:solidFill>
                            <a:srgbClr val="000000"/>
                          </a:solidFill>
                        </a:defRPr>
                      </a:pPr>
                      <a:r>
                        <a:rPr dirty="0"/>
                        <a:t>The deal should be qualified prior to kicking off the Discovery phase</a:t>
                      </a:r>
                    </a:p>
                  </a:txBody>
                  <a:tcPr>
                    <a:solidFill>
                      <a:srgbClr val="FFFFFF"/>
                    </a:solidFill>
                  </a:tcPr>
                </a:tc>
                <a:extLst>
                  <a:ext uri="{0D108BD9-81ED-4DB2-BD59-A6C34878D82A}">
                    <a16:rowId xmlns:a16="http://schemas.microsoft.com/office/drawing/2014/main" val="10001"/>
                  </a:ext>
                </a:extLst>
              </a:tr>
              <a:tr h="762000">
                <a:tc>
                  <a:txBody>
                    <a:bodyPr/>
                    <a:lstStyle/>
                    <a:p>
                      <a:pPr algn="l">
                        <a:defRPr sz="1200" b="0">
                          <a:solidFill>
                            <a:srgbClr val="000000"/>
                          </a:solidFill>
                        </a:defRPr>
                      </a:pPr>
                      <a:r>
                        <a:rPr dirty="0"/>
                        <a:t>Discovery resources identified</a:t>
                      </a:r>
                    </a:p>
                  </a:txBody>
                  <a:tcPr>
                    <a:solidFill>
                      <a:srgbClr val="FFFFFF"/>
                    </a:solidFill>
                  </a:tcPr>
                </a:tc>
                <a:tc>
                  <a:txBody>
                    <a:bodyPr/>
                    <a:lstStyle/>
                    <a:p>
                      <a:pPr algn="l">
                        <a:defRPr sz="1100">
                          <a:solidFill>
                            <a:srgbClr val="000000"/>
                          </a:solidFill>
                        </a:defRPr>
                      </a:pPr>
                      <a:r>
                        <a:rPr dirty="0"/>
                        <a:t>The customer and partner resources for the Discovery phase should be identified.</a:t>
                      </a:r>
                    </a:p>
                  </a:txBody>
                  <a:tcPr>
                    <a:solidFill>
                      <a:srgbClr val="FFFFFF"/>
                    </a:solidFill>
                  </a:tcPr>
                </a:tc>
                <a:extLst>
                  <a:ext uri="{0D108BD9-81ED-4DB2-BD59-A6C34878D82A}">
                    <a16:rowId xmlns:a16="http://schemas.microsoft.com/office/drawing/2014/main" val="10002"/>
                  </a:ext>
                </a:extLst>
              </a:tr>
              <a:tr h="762000">
                <a:tc>
                  <a:txBody>
                    <a:bodyPr/>
                    <a:lstStyle/>
                    <a:p>
                      <a:pPr algn="l">
                        <a:defRPr sz="1200" b="0">
                          <a:solidFill>
                            <a:srgbClr val="000000"/>
                          </a:solidFill>
                        </a:defRPr>
                      </a:pPr>
                      <a:r>
                        <a:t>Product Knowledge</a:t>
                      </a:r>
                    </a:p>
                  </a:txBody>
                  <a:tcPr>
                    <a:solidFill>
                      <a:srgbClr val="FFFFFF"/>
                    </a:solidFill>
                  </a:tcPr>
                </a:tc>
                <a:tc>
                  <a:txBody>
                    <a:bodyPr/>
                    <a:lstStyle/>
                    <a:p>
                      <a:pPr algn="l">
                        <a:defRPr sz="1100">
                          <a:solidFill>
                            <a:srgbClr val="000000"/>
                          </a:solidFill>
                        </a:defRPr>
                      </a:pPr>
                      <a:r>
                        <a:t>The pre-sales team should have baseline knowledge of Dynamics products and the latest release information needed to complete the Discovery phase. For all complex projects, it is highly recommended to include change management resources.</a:t>
                      </a:r>
                    </a:p>
                  </a:txBody>
                  <a:tcPr>
                    <a:solidFill>
                      <a:srgbClr val="FFFFFF"/>
                    </a:solidFill>
                  </a:tcPr>
                </a:tc>
                <a:extLst>
                  <a:ext uri="{0D108BD9-81ED-4DB2-BD59-A6C34878D82A}">
                    <a16:rowId xmlns:a16="http://schemas.microsoft.com/office/drawing/2014/main" val="10003"/>
                  </a:ext>
                </a:extLst>
              </a:tr>
              <a:tr h="762000">
                <a:tc>
                  <a:txBody>
                    <a:bodyPr/>
                    <a:lstStyle/>
                    <a:p>
                      <a:pPr algn="l">
                        <a:defRPr sz="1200" b="0">
                          <a:solidFill>
                            <a:srgbClr val="000000"/>
                          </a:solidFill>
                        </a:defRPr>
                      </a:pPr>
                      <a:r>
                        <a:t>Tools set up</a:t>
                      </a:r>
                    </a:p>
                  </a:txBody>
                  <a:tcPr>
                    <a:solidFill>
                      <a:srgbClr val="FFFFFF"/>
                    </a:solidFill>
                  </a:tcPr>
                </a:tc>
                <a:tc>
                  <a:txBody>
                    <a:bodyPr/>
                    <a:lstStyle/>
                    <a:p>
                      <a:pPr algn="l">
                        <a:defRPr sz="1100">
                          <a:solidFill>
                            <a:srgbClr val="000000"/>
                          </a:solidFill>
                        </a:defRPr>
                      </a:pPr>
                      <a:r>
                        <a:t>Resources conducting the Discovery phase should have access to the required project tools. These tools should be set up and ready for use.</a:t>
                      </a:r>
                    </a:p>
                  </a:txBody>
                  <a:tcPr>
                    <a:solidFill>
                      <a:srgbClr val="FFFFFF"/>
                    </a:solidFill>
                  </a:tcPr>
                </a:tc>
                <a:extLst>
                  <a:ext uri="{0D108BD9-81ED-4DB2-BD59-A6C34878D82A}">
                    <a16:rowId xmlns:a16="http://schemas.microsoft.com/office/drawing/2014/main" val="10004"/>
                  </a:ext>
                </a:extLst>
              </a:tr>
              <a:tr h="762000">
                <a:tc>
                  <a:txBody>
                    <a:bodyPr/>
                    <a:lstStyle/>
                    <a:p>
                      <a:pPr algn="l">
                        <a:defRPr sz="1200" b="0">
                          <a:solidFill>
                            <a:srgbClr val="000000"/>
                          </a:solidFill>
                        </a:defRPr>
                      </a:pPr>
                      <a:r>
                        <a:t>Environment(s) set up</a:t>
                      </a:r>
                    </a:p>
                  </a:txBody>
                  <a:tcPr>
                    <a:solidFill>
                      <a:srgbClr val="FFFFFF"/>
                    </a:solidFill>
                  </a:tcPr>
                </a:tc>
                <a:tc>
                  <a:txBody>
                    <a:bodyPr/>
                    <a:lstStyle/>
                    <a:p>
                      <a:pPr algn="l">
                        <a:defRPr sz="1100">
                          <a:solidFill>
                            <a:srgbClr val="000000"/>
                          </a:solidFill>
                        </a:defRPr>
                      </a:pPr>
                      <a:r>
                        <a:rPr dirty="0"/>
                        <a:t>Prepare the environments prior to the start of the Discovery phase</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106</TotalTime>
  <Words>1079</Words>
  <Application>Microsoft Office PowerPoint</Application>
  <PresentationFormat>On-screen Show (4:3)</PresentationFormat>
  <Paragraphs>194</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Jurijus Mirošničenko</dc:creator>
  <cp:keywords/>
  <dc:description>generated using python-pptx</dc:description>
  <cp:lastModifiedBy>Jurijus Mirošničenko</cp:lastModifiedBy>
  <cp:revision>15</cp:revision>
  <dcterms:created xsi:type="dcterms:W3CDTF">2013-01-27T09:14:16Z</dcterms:created>
  <dcterms:modified xsi:type="dcterms:W3CDTF">2025-11-04T07:30:37Z</dcterms:modified>
  <cp:category/>
</cp:coreProperties>
</file>