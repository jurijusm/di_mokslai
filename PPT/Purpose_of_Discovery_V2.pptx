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9" r:id="rId3"/>
    <p:sldId id="257" r:id="rId4"/>
    <p:sldId id="258" r:id="rId5"/>
    <p:sldId id="260" r:id="rId6"/>
    <p:sldId id="263" r:id="rId7"/>
    <p:sldId id="261" r:id="rId8"/>
    <p:sldId id="262" r:id="rId9"/>
    <p:sldId id="265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4" autoAdjust="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1140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DCA4D4-E2D1-463A-B4BC-415E6A57367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8E084A-C186-45A8-8EE6-436978226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745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1️⃣ Consider end-to-end process rather than individual products</a:t>
            </a:r>
          </a:p>
          <a:p>
            <a:endParaRPr/>
          </a:p>
          <a:p>
            <a:r>
              <a:t>Vertinkite procesą nuo pradžios iki pabaigos, o ne atskirus produktus.</a:t>
            </a:r>
          </a:p>
          <a:p>
            <a:endParaRPr/>
          </a:p>
          <a:p>
            <a:r>
              <a:t>Paaiškinimas:</a:t>
            </a:r>
          </a:p>
          <a:p>
            <a:r>
              <a:t>Nesvarbu, kad diegiate kelis produktus (pvz., D365 Finance ir D365 Supply Chain). Vertinimas turi būti daromas per visą verslo procesą, pvz.:</a:t>
            </a:r>
          </a:p>
          <a:p>
            <a:r>
              <a:t>• nuo užsakymo gavimo iki sąskaitos išrašymo,</a:t>
            </a:r>
          </a:p>
          <a:p>
            <a:r>
              <a:t>• nuo žaliavos pirkimo iki galutinio produkto pardavimo.</a:t>
            </a:r>
          </a:p>
          <a:p>
            <a:r>
              <a:t>Tokiu būdu sąmata remiasi verslo vertės srautu, o ne tik moduliais.</a:t>
            </a:r>
          </a:p>
          <a:p>
            <a:endParaRPr/>
          </a:p>
          <a:p>
            <a:r>
              <a:t>2️⃣ Map out the overall data model</a:t>
            </a:r>
          </a:p>
          <a:p>
            <a:endParaRPr/>
          </a:p>
          <a:p>
            <a:r>
              <a:t>Nubraižykite bendrą duomenų modelį.</a:t>
            </a:r>
          </a:p>
          <a:p>
            <a:endParaRPr/>
          </a:p>
          <a:p>
            <a:r>
              <a:t>Paaiškinimas:</a:t>
            </a:r>
          </a:p>
          <a:p>
            <a:r>
              <a:t>Skirtingi sprendimai (Finance, SCM, CRM, Power Apps) naudoja skirtingas duomenų struktūras.</a:t>
            </a:r>
          </a:p>
          <a:p>
            <a:r>
              <a:t>Reikia iš anksto nustatyti:</a:t>
            </a:r>
          </a:p>
          <a:p>
            <a:r>
              <a:t>• kaip duomenys bus dalijami tarp sistemų,</a:t>
            </a:r>
          </a:p>
          <a:p>
            <a:r>
              <a:t>• kur bus "source of truth",</a:t>
            </a:r>
          </a:p>
          <a:p>
            <a:r>
              <a:t>• kaip veiks integracijos ir ataskaitos.</a:t>
            </a:r>
          </a:p>
          <a:p>
            <a:r>
              <a:t>Tai padeda išvengti duomenų dubliavimo ir nerealistinių planų.</a:t>
            </a:r>
          </a:p>
          <a:p>
            <a:endParaRPr/>
          </a:p>
          <a:p>
            <a:r>
              <a:t>3️⃣ Plan the roll-out strategy</a:t>
            </a:r>
          </a:p>
          <a:p>
            <a:endParaRPr/>
          </a:p>
          <a:p>
            <a:r>
              <a:t>Suplanuokite įgyvendinimo (roll-out) strategiją.</a:t>
            </a:r>
          </a:p>
          <a:p>
            <a:endParaRPr/>
          </a:p>
          <a:p>
            <a:r>
              <a:t>Paaiškinimas:</a:t>
            </a:r>
          </a:p>
          <a:p>
            <a:r>
              <a:t>Nustatykite, kaip sistema bus diegiama:</a:t>
            </a:r>
          </a:p>
          <a:p>
            <a:r>
              <a:t>• Etapais (phased roll-out) – pvz., pirmiausia finansai, po to tiekimo grandinė.</a:t>
            </a:r>
          </a:p>
          <a:p>
            <a:r>
              <a:t>• Pagal regionus / filialus (wave deployment).</a:t>
            </a:r>
          </a:p>
          <a:p>
            <a:r>
              <a:t>• Pagal funkcinius srautus (workstreams).</a:t>
            </a:r>
          </a:p>
          <a:p>
            <a:r>
              <a:t>Tai leidžia realiai paskirstyti išteklius ir valdyti riziką.</a:t>
            </a:r>
          </a:p>
          <a:p>
            <a:endParaRPr/>
          </a:p>
          <a:p>
            <a:r>
              <a:t>4️⃣ Create workstreams with end-to-end processes that deliver business value for each phase</a:t>
            </a:r>
          </a:p>
          <a:p>
            <a:endParaRPr/>
          </a:p>
          <a:p>
            <a:r>
              <a:t>Sukurkite darbo srautus (workstreams), kurie kiekviename etape teiktų verslo vertę.</a:t>
            </a:r>
          </a:p>
          <a:p>
            <a:endParaRPr/>
          </a:p>
          <a:p>
            <a:r>
              <a:t>Paaiškinimas:</a:t>
            </a:r>
          </a:p>
          <a:p>
            <a:r>
              <a:t>Kiekvienas etapas turi turėti aiškų verslo rezultatą.</a:t>
            </a:r>
          </a:p>
          <a:p>
            <a:r>
              <a:t>Pvz.:</a:t>
            </a:r>
          </a:p>
          <a:p>
            <a:r>
              <a:t>• 1 fazė → įgalinami pagrindiniai finansai (P/L ataskaitos, biudžetai).</a:t>
            </a:r>
          </a:p>
          <a:p>
            <a:r>
              <a:t>• 2 fazė → įgyvendinama sandėliavimo automatizacija.</a:t>
            </a:r>
          </a:p>
          <a:p>
            <a:r>
              <a:t>• 3 fazė → integruojamas CRM su klientų savitarnos portalu.</a:t>
            </a:r>
          </a:p>
          <a:p>
            <a:r>
              <a:t>Kiekvienas "workstream" – tai mini-projektas, turintis aiškią vertę.</a:t>
            </a:r>
          </a:p>
          <a:p>
            <a:endParaRPr/>
          </a:p>
          <a:p>
            <a:r>
              <a:t>5️⃣ Align estimates with workstreams and deliverables</a:t>
            </a:r>
          </a:p>
          <a:p>
            <a:endParaRPr/>
          </a:p>
          <a:p>
            <a:r>
              <a:t>Suderinkite sąmatas su darbo srautais ir pristatomais rezultatais.</a:t>
            </a:r>
          </a:p>
          <a:p>
            <a:endParaRPr/>
          </a:p>
          <a:p>
            <a:r>
              <a:t>Paaiškinimas:</a:t>
            </a:r>
          </a:p>
          <a:p>
            <a:r>
              <a:t>Kiekvienas "workstream" turi turėti savo sąmatą (estimation) – kiek laiko ir resursų reikės, kad būtų pristatyti konkretūs deliverables (pvz., sukonfigūruotas modulis, testavimo scenarijai, mokymai).</a:t>
            </a:r>
          </a:p>
          <a:p>
            <a:r>
              <a:t>Tai užtikrina, kad vertinimai būtų skaidrūs ir pamatuojami pagal rezultatą.</a:t>
            </a:r>
          </a:p>
          <a:p>
            <a:endParaRPr/>
          </a:p>
          <a:p>
            <a:r>
              <a:t>6️⃣ Review for shared resources (people, environments, etc.)</a:t>
            </a:r>
          </a:p>
          <a:p>
            <a:endParaRPr/>
          </a:p>
          <a:p>
            <a:r>
              <a:t>Įvertinkite bendrus išteklius (žmones, aplinkas ir kt.).</a:t>
            </a:r>
          </a:p>
          <a:p>
            <a:endParaRPr/>
          </a:p>
          <a:p>
            <a:r>
              <a:t>Paaiškinimas:</a:t>
            </a:r>
          </a:p>
          <a:p>
            <a:r>
              <a:t>Daugelis išteklių naudojami keliuose etapuose:</a:t>
            </a:r>
          </a:p>
          <a:p>
            <a:r>
              <a:t>• tie patys konsultantai (pvz., Finance architect),</a:t>
            </a:r>
          </a:p>
          <a:p>
            <a:r>
              <a:t>• tos pačios "sandbox" ar "UAT" aplinkos,</a:t>
            </a:r>
          </a:p>
          <a:p>
            <a:r>
              <a:t>• bendra Power BI infrastruktūra ar duomenų bazės.</a:t>
            </a:r>
          </a:p>
          <a:p>
            <a:r>
              <a:t>Jei to neįvertini — kyla resursų konfliktai, vėlavimai ar dubliavimas sąmatose.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0000"/>
                </a:solidFill>
              </a:defRPr>
            </a:pPr>
            <a:r>
              <a:t>Purpose of discovery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5123" y="1463040"/>
            <a:ext cx="4572000" cy="731520"/>
          </a:xfrm>
          <a:prstGeom prst="roundRect">
            <a:avLst/>
          </a:prstGeom>
          <a:solidFill>
            <a:srgbClr val="9365B8"/>
          </a:solidFill>
          <a:ln>
            <a:solidFill>
              <a:srgbClr val="936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rPr dirty="0"/>
              <a:t>Determine customer goals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08295" y="2468880"/>
            <a:ext cx="4572000" cy="731520"/>
          </a:xfrm>
          <a:prstGeom prst="roundRect">
            <a:avLst/>
          </a:prstGeom>
          <a:solidFill>
            <a:srgbClr val="445484"/>
          </a:solidFill>
          <a:ln>
            <a:solidFill>
              <a:srgbClr val="445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rPr dirty="0"/>
              <a:t>Map goals to objectives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51184" y="3474720"/>
            <a:ext cx="4572000" cy="731520"/>
          </a:xfrm>
          <a:prstGeom prst="roundRect">
            <a:avLst/>
          </a:prstGeom>
          <a:solidFill>
            <a:srgbClr val="4F81BD"/>
          </a:solidFill>
          <a:ln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rPr dirty="0"/>
              <a:t>Map objectives to high level solutions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76951" y="4480560"/>
            <a:ext cx="4572000" cy="731520"/>
          </a:xfrm>
          <a:prstGeom prst="roundRect">
            <a:avLst/>
          </a:prstGeom>
          <a:solidFill>
            <a:srgbClr val="4BACC6"/>
          </a:solidFill>
          <a:ln>
            <a:solidFill>
              <a:srgbClr val="4BA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Refine solutions to meet customer needs</a:t>
            </a:r>
          </a:p>
        </p:txBody>
      </p:sp>
      <p:sp>
        <p:nvSpPr>
          <p:cNvPr id="4" name="Down Arrow 3"/>
          <p:cNvSpPr/>
          <p:nvPr/>
        </p:nvSpPr>
        <p:spPr>
          <a:xfrm>
            <a:off x="4611858" y="1992338"/>
            <a:ext cx="384516" cy="548640"/>
          </a:xfrm>
          <a:prstGeom prst="downArrow">
            <a:avLst/>
          </a:prstGeom>
          <a:solidFill>
            <a:srgbClr val="C0C0C0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Down Arrow 3">
            <a:extLst>
              <a:ext uri="{FF2B5EF4-FFF2-40B4-BE49-F238E27FC236}">
                <a16:creationId xmlns:a16="http://schemas.microsoft.com/office/drawing/2014/main" id="{70F18597-F0A9-D12B-BB7F-34B34DECC9AA}"/>
              </a:ext>
            </a:extLst>
          </p:cNvPr>
          <p:cNvSpPr/>
          <p:nvPr/>
        </p:nvSpPr>
        <p:spPr>
          <a:xfrm>
            <a:off x="5078435" y="3017520"/>
            <a:ext cx="384516" cy="548640"/>
          </a:xfrm>
          <a:prstGeom prst="downArrow">
            <a:avLst/>
          </a:prstGeom>
          <a:solidFill>
            <a:srgbClr val="C0C0C0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Down Arrow 3">
            <a:extLst>
              <a:ext uri="{FF2B5EF4-FFF2-40B4-BE49-F238E27FC236}">
                <a16:creationId xmlns:a16="http://schemas.microsoft.com/office/drawing/2014/main" id="{C01EE52D-D901-588A-079A-6FFFC0AAD6F5}"/>
              </a:ext>
            </a:extLst>
          </p:cNvPr>
          <p:cNvSpPr/>
          <p:nvPr/>
        </p:nvSpPr>
        <p:spPr>
          <a:xfrm>
            <a:off x="6059658" y="4069080"/>
            <a:ext cx="384516" cy="548640"/>
          </a:xfrm>
          <a:prstGeom prst="downArrow">
            <a:avLst/>
          </a:prstGeom>
          <a:solidFill>
            <a:srgbClr val="C0C0C0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</a:defRPr>
            </a:pPr>
            <a:r>
              <a:t>🏭 Gamyba - Pavyzdys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266732"/>
              </p:ext>
            </p:extLst>
          </p:nvPr>
        </p:nvGraphicFramePr>
        <p:xfrm>
          <a:off x="457200" y="137160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0584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Lygmuo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Pavyzdys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Paaiškinimas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lang="lt-LT" dirty="0"/>
                        <a:t>Tikslas</a:t>
                      </a:r>
                      <a:endParaRPr dirty="0"/>
                    </a:p>
                  </a:txBody>
                  <a:tcPr>
                    <a:solidFill>
                      <a:srgbClr val="9365B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Padidinti gamybos efektyvumą ir sumažinti prastovas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C3C3C"/>
                          </a:solidFill>
                        </a:defRPr>
                      </a:pPr>
                      <a:r>
                        <a:t>Verslo strateginis siekis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lang="lt-LT" dirty="0"/>
                        <a:t>Uždavinys</a:t>
                      </a:r>
                      <a:endParaRPr dirty="0"/>
                    </a:p>
                  </a:txBody>
                  <a:tcPr>
                    <a:solidFill>
                      <a:srgbClr val="44548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dirty="0" err="1"/>
                        <a:t>Sumažinti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planuotų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sustojimų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skaičių</a:t>
                      </a:r>
                      <a:r>
                        <a:rPr dirty="0"/>
                        <a:t> 15 % per 12 </a:t>
                      </a:r>
                      <a:r>
                        <a:rPr dirty="0" err="1"/>
                        <a:t>mėn</a:t>
                      </a:r>
                      <a:r>
                        <a:rPr dirty="0"/>
                        <a:t>.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C3C3C"/>
                          </a:solidFill>
                        </a:defRPr>
                      </a:pPr>
                      <a:r>
                        <a:t>Taktinis, išmatuojamas tikslas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lang="lt-LT" dirty="0"/>
                        <a:t>Aukšto lygio sprendimas</a:t>
                      </a:r>
                      <a:endParaRPr dirty="0"/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Įdiegti "Asset Management" modulį ir integruoti su IoT įrenginiais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C3C3C"/>
                          </a:solidFill>
                        </a:defRPr>
                      </a:pPr>
                      <a:r>
                        <a:t>Technologinis sprendimas tikslui pasiekti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lang="lt-LT" dirty="0"/>
                        <a:t>Patikslintas sprendimas</a:t>
                      </a:r>
                      <a:endParaRPr dirty="0"/>
                    </a:p>
                  </a:txBody>
                  <a:tcPr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Konfigūruoti įrangos priežiūros grafikus pagal darbo valandas, sukurti IoT alertų logiką, įtraukti Power Automate pranešimus atsakingiems asmenims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C3C3C"/>
                          </a:solidFill>
                        </a:defRPr>
                      </a:pPr>
                      <a:r>
                        <a:rPr dirty="0" err="1"/>
                        <a:t>Detalizuotas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sprendimas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atspindintis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kliento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techninę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aplinką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ir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atsakomybių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grandinę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</a:defRPr>
            </a:pPr>
            <a:r>
              <a:t>Discovery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41148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rPr dirty="0"/>
              <a:t>1. </a:t>
            </a:r>
            <a:r>
              <a:rPr b="1" dirty="0"/>
              <a:t>Presales, scope definition, or </a:t>
            </a:r>
            <a:r>
              <a:rPr b="1" dirty="0">
                <a:solidFill>
                  <a:srgbClr val="0070C0"/>
                </a:solidFill>
              </a:rPr>
              <a:t>envisioning</a:t>
            </a:r>
            <a:r>
              <a:rPr b="1" dirty="0"/>
              <a:t> discovery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rPr dirty="0"/>
              <a:t>2. Detailed estimate (phase zero)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rPr dirty="0"/>
              <a:t>3. Ongoing solution architecture development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rPr dirty="0"/>
              <a:t>4. Training and change management</a:t>
            </a:r>
          </a:p>
          <a:p>
            <a:pPr>
              <a:spcBef>
                <a:spcPts val="1200"/>
              </a:spcBef>
              <a:defRPr sz="2000">
                <a:solidFill>
                  <a:srgbClr val="000000"/>
                </a:solidFill>
              </a:defRPr>
            </a:pPr>
            <a:r>
              <a:rPr dirty="0"/>
              <a:t>5. Continuous improvement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457200"/>
            <a:ext cx="3931920" cy="5943600"/>
          </a:xfrm>
          <a:prstGeom prst="rect">
            <a:avLst/>
          </a:prstGeom>
          <a:solidFill>
            <a:srgbClr val="ADD8E6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>
                <a:solidFill>
                  <a:srgbClr val="464646"/>
                </a:solidFill>
              </a:defRPr>
            </a:pPr>
            <a:r>
              <a:t>Image placeholder</a:t>
            </a:r>
          </a:p>
          <a:p>
            <a:r>
              <a:t>(Building photo)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1299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rPr dirty="0"/>
              <a:t>Outcomes of well-executed </a:t>
            </a:r>
            <a:endParaRPr lang="lt-LT" dirty="0"/>
          </a:p>
          <a:p>
            <a:pPr>
              <a:defRPr sz="3600" b="1">
                <a:solidFill>
                  <a:srgbClr val="000000"/>
                </a:solidFill>
              </a:defRPr>
            </a:pPr>
            <a:r>
              <a:rPr dirty="0">
                <a:solidFill>
                  <a:srgbClr val="00B0F0"/>
                </a:solidFill>
              </a:rPr>
              <a:t>process-centric</a:t>
            </a:r>
            <a:r>
              <a:rPr dirty="0"/>
              <a:t> discovery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2286000"/>
            <a:ext cx="822960" cy="822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936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4000"/>
            </a:pPr>
            <a:r>
              <a:t>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371600" cy="1036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300">
                <a:solidFill>
                  <a:srgbClr val="000000"/>
                </a:solidFill>
              </a:defRPr>
            </a:pPr>
            <a:r>
              <a:rPr dirty="0"/>
              <a:t>Well defined goals in</a:t>
            </a:r>
          </a:p>
          <a:p>
            <a:pPr algn="ctr">
              <a:lnSpc>
                <a:spcPct val="120000"/>
              </a:lnSpc>
              <a:defRPr sz="1300">
                <a:solidFill>
                  <a:srgbClr val="000000"/>
                </a:solidFill>
              </a:defRPr>
            </a:pPr>
            <a:r>
              <a:rPr sz="1300" dirty="0">
                <a:solidFill>
                  <a:srgbClr val="000000"/>
                </a:solidFill>
              </a:rPr>
              <a:t>business language</a:t>
            </a:r>
          </a:p>
        </p:txBody>
      </p:sp>
      <p:sp>
        <p:nvSpPr>
          <p:cNvPr id="5" name="Oval 4"/>
          <p:cNvSpPr/>
          <p:nvPr/>
        </p:nvSpPr>
        <p:spPr>
          <a:xfrm>
            <a:off x="2103120" y="2286000"/>
            <a:ext cx="822960" cy="822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936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4000"/>
            </a:pPr>
            <a:r>
              <a:rPr dirty="0"/>
              <a:t>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291840"/>
            <a:ext cx="1371600" cy="1036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300">
                <a:solidFill>
                  <a:srgbClr val="000000"/>
                </a:solidFill>
              </a:defRPr>
            </a:pPr>
            <a:r>
              <a:rPr sz="1300" dirty="0">
                <a:solidFill>
                  <a:srgbClr val="000000"/>
                </a:solidFill>
              </a:rPr>
              <a:t>Relevant business</a:t>
            </a:r>
          </a:p>
          <a:p>
            <a:pPr algn="ctr">
              <a:lnSpc>
                <a:spcPct val="120000"/>
              </a:lnSpc>
              <a:defRPr sz="1300">
                <a:solidFill>
                  <a:srgbClr val="000000"/>
                </a:solidFill>
              </a:defRPr>
            </a:pPr>
            <a:r>
              <a:rPr sz="1300" dirty="0">
                <a:solidFill>
                  <a:srgbClr val="000000"/>
                </a:solidFill>
              </a:rPr>
              <a:t>process KPI's identified</a:t>
            </a:r>
          </a:p>
        </p:txBody>
      </p:sp>
      <p:sp>
        <p:nvSpPr>
          <p:cNvPr id="7" name="Oval 6"/>
          <p:cNvSpPr/>
          <p:nvPr/>
        </p:nvSpPr>
        <p:spPr>
          <a:xfrm>
            <a:off x="3474720" y="2286000"/>
            <a:ext cx="822960" cy="822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936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4000"/>
            </a:pPr>
            <a:r>
              <a:t>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291840"/>
            <a:ext cx="1371600" cy="1036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300">
                <a:solidFill>
                  <a:srgbClr val="000000"/>
                </a:solidFill>
              </a:defRPr>
            </a:pPr>
            <a:r>
              <a:rPr dirty="0"/>
              <a:t>More accurate estimates</a:t>
            </a:r>
          </a:p>
          <a:p>
            <a:pPr algn="ctr">
              <a:lnSpc>
                <a:spcPct val="120000"/>
              </a:lnSpc>
              <a:defRPr sz="1300">
                <a:solidFill>
                  <a:srgbClr val="000000"/>
                </a:solidFill>
              </a:defRPr>
            </a:pPr>
            <a:r>
              <a:rPr sz="1300" dirty="0">
                <a:solidFill>
                  <a:srgbClr val="000000"/>
                </a:solidFill>
              </a:rPr>
              <a:t>aligned to business goals</a:t>
            </a:r>
          </a:p>
        </p:txBody>
      </p:sp>
      <p:sp>
        <p:nvSpPr>
          <p:cNvPr id="9" name="Oval 8"/>
          <p:cNvSpPr/>
          <p:nvPr/>
        </p:nvSpPr>
        <p:spPr>
          <a:xfrm>
            <a:off x="4846320" y="2286000"/>
            <a:ext cx="822960" cy="822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936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4000"/>
            </a:pPr>
            <a:r>
              <a:t>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291840"/>
            <a:ext cx="1371600" cy="796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300">
                <a:solidFill>
                  <a:srgbClr val="000000"/>
                </a:solidFill>
              </a:defRPr>
            </a:pPr>
            <a:r>
              <a:rPr dirty="0"/>
              <a:t>Clear communication</a:t>
            </a:r>
          </a:p>
          <a:p>
            <a:pPr algn="ctr">
              <a:lnSpc>
                <a:spcPct val="120000"/>
              </a:lnSpc>
              <a:defRPr sz="1300">
                <a:solidFill>
                  <a:srgbClr val="000000"/>
                </a:solidFill>
              </a:defRPr>
            </a:pPr>
            <a:r>
              <a:rPr sz="1300" dirty="0">
                <a:solidFill>
                  <a:srgbClr val="000000"/>
                </a:solidFill>
              </a:rPr>
              <a:t>and solutions</a:t>
            </a:r>
          </a:p>
        </p:txBody>
      </p:sp>
      <p:sp>
        <p:nvSpPr>
          <p:cNvPr id="11" name="Oval 10"/>
          <p:cNvSpPr/>
          <p:nvPr/>
        </p:nvSpPr>
        <p:spPr>
          <a:xfrm>
            <a:off x="6217920" y="2286000"/>
            <a:ext cx="822960" cy="822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936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4000"/>
            </a:pPr>
            <a:r>
              <a:t>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329184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300">
                <a:solidFill>
                  <a:srgbClr val="000000"/>
                </a:solidFill>
              </a:defRPr>
            </a:pPr>
            <a:r>
              <a:rPr dirty="0"/>
              <a:t>Fewer change orders</a:t>
            </a:r>
          </a:p>
        </p:txBody>
      </p:sp>
      <p:sp>
        <p:nvSpPr>
          <p:cNvPr id="13" name="Oval 12"/>
          <p:cNvSpPr/>
          <p:nvPr/>
        </p:nvSpPr>
        <p:spPr>
          <a:xfrm>
            <a:off x="7589520" y="2286000"/>
            <a:ext cx="822960" cy="822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936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4000"/>
            </a:pPr>
            <a:r>
              <a:t>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329184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300">
                <a:solidFill>
                  <a:srgbClr val="000000"/>
                </a:solidFill>
              </a:defRPr>
            </a:pPr>
            <a:r>
              <a:rPr dirty="0"/>
              <a:t>Increased adoption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</a:defRPr>
            </a:pPr>
            <a:r>
              <a:t>Process-centric discovery goals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45920"/>
            <a:ext cx="1325880" cy="4114800"/>
          </a:xfrm>
          <a:prstGeom prst="rect">
            <a:avLst/>
          </a:prstGeom>
          <a:solidFill>
            <a:srgbClr val="583882"/>
          </a:solidFill>
          <a:ln>
            <a:solidFill>
              <a:srgbClr val="583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32588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1143000" cy="13677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defRPr sz="1400">
                <a:solidFill>
                  <a:srgbClr val="FFFFFF"/>
                </a:solidFill>
              </a:defRPr>
            </a:pPr>
            <a:r>
              <a:t>Capture and qualify the customer's business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1645920"/>
            <a:ext cx="1325880" cy="4114800"/>
          </a:xfrm>
          <a:prstGeom prst="rect">
            <a:avLst/>
          </a:prstGeom>
          <a:solidFill>
            <a:srgbClr val="7851A9"/>
          </a:solidFill>
          <a:ln>
            <a:solidFill>
              <a:srgbClr val="7851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0" y="1828800"/>
            <a:ext cx="132588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468880"/>
            <a:ext cx="1143000" cy="16262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defRPr sz="1400">
                <a:solidFill>
                  <a:srgbClr val="FFFFFF"/>
                </a:solidFill>
              </a:defRPr>
            </a:pPr>
            <a:r>
              <a:t>Define or clarify solution scope in business terms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45920"/>
            <a:ext cx="1325880" cy="4114800"/>
          </a:xfrm>
          <a:prstGeom prst="rect">
            <a:avLst/>
          </a:prstGeom>
          <a:solidFill>
            <a:srgbClr val="445484"/>
          </a:solidFill>
          <a:ln>
            <a:solidFill>
              <a:srgbClr val="445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0" y="1828800"/>
            <a:ext cx="132588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468880"/>
            <a:ext cx="1143000" cy="16262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defRPr sz="1400">
                <a:solidFill>
                  <a:srgbClr val="FFFFFF"/>
                </a:solidFill>
              </a:defRPr>
            </a:pPr>
            <a:r>
              <a:t>Achieve clarity with customer with regards to the solution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645920"/>
            <a:ext cx="1325880" cy="4114800"/>
          </a:xfrm>
          <a:prstGeom prst="rect">
            <a:avLst/>
          </a:prstGeom>
          <a:solidFill>
            <a:srgbClr val="4F81BD"/>
          </a:solidFill>
          <a:ln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1828800"/>
            <a:ext cx="132588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468880"/>
            <a:ext cx="1143000" cy="16262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defRPr sz="1400">
                <a:solidFill>
                  <a:srgbClr val="FFFFFF"/>
                </a:solidFill>
              </a:defRPr>
            </a:pPr>
            <a:r>
              <a:rPr dirty="0"/>
              <a:t>Provide project estimates aligned with both fits and gaps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1645920"/>
            <a:ext cx="1325880" cy="4114800"/>
          </a:xfrm>
          <a:prstGeom prst="rect">
            <a:avLst/>
          </a:prstGeom>
          <a:solidFill>
            <a:srgbClr val="5C9CCC"/>
          </a:solidFill>
          <a:ln>
            <a:solidFill>
              <a:srgbClr val="5C9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0" y="1828800"/>
            <a:ext cx="132588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2468880"/>
            <a:ext cx="1234440" cy="110921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defRPr sz="1400">
                <a:solidFill>
                  <a:srgbClr val="FFFFFF"/>
                </a:solidFill>
              </a:defRPr>
            </a:pPr>
            <a:r>
              <a:rPr dirty="0"/>
              <a:t>Capture and qualify change</a:t>
            </a:r>
            <a:r>
              <a:rPr lang="lt-LT" dirty="0"/>
              <a:t> </a:t>
            </a:r>
            <a:r>
              <a:rPr lang="en-US" dirty="0"/>
              <a:t> m</a:t>
            </a:r>
            <a:r>
              <a:rPr dirty="0"/>
              <a:t>anagement requirements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1645920"/>
            <a:ext cx="1325880" cy="4114800"/>
          </a:xfrm>
          <a:prstGeom prst="rect">
            <a:avLst/>
          </a:prstGeom>
          <a:solidFill>
            <a:srgbClr val="4BACC6"/>
          </a:solidFill>
          <a:ln>
            <a:solidFill>
              <a:srgbClr val="4BA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0" y="1828800"/>
            <a:ext cx="132588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468880"/>
            <a:ext cx="1143000" cy="2660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defRPr sz="1400">
                <a:solidFill>
                  <a:srgbClr val="FFFFFF"/>
                </a:solidFill>
              </a:defRPr>
            </a:pPr>
            <a:r>
              <a:t>Ensure the customer understands their own level of commitment and readiness required to be successful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Mapping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4472C4"/>
                </a:solidFill>
              </a:defRPr>
            </a:pPr>
            <a:r>
              <a:rPr dirty="0"/>
              <a:t>Presales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/>
            </a:pPr>
            <a:r>
              <a:rPr dirty="0"/>
              <a:t>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2286000" cy="3636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000000"/>
                </a:solidFill>
              </a:defRPr>
            </a:pPr>
            <a:r>
              <a:rPr sz="1600" dirty="0"/>
              <a:t>High-level</a:t>
            </a:r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000000"/>
                </a:solidFill>
              </a:defRPr>
            </a:pPr>
            <a:r>
              <a:rPr sz="1600" dirty="0"/>
              <a:t>Focus on customer goals</a:t>
            </a:r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000000"/>
                </a:solidFill>
              </a:defRPr>
            </a:pPr>
            <a:r>
              <a:rPr sz="1600" dirty="0"/>
              <a:t>Tell a story of a full end-to-end process</a:t>
            </a:r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000000"/>
                </a:solidFill>
              </a:defRPr>
            </a:pPr>
            <a:r>
              <a:rPr sz="1600" dirty="0"/>
              <a:t>Show the critical Dynamics components that have highest impact to customer goals</a:t>
            </a:r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000000"/>
                </a:solidFill>
              </a:defRPr>
            </a:pPr>
            <a:r>
              <a:rPr sz="1600" dirty="0"/>
              <a:t>High-level solution blueprint deliverable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71800" y="3657600"/>
            <a:ext cx="548640" cy="365760"/>
          </a:xfrm>
          <a:prstGeom prst="rightArrow">
            <a:avLst/>
          </a:prstGeom>
          <a:solidFill>
            <a:srgbClr val="936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520440" y="1371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9365B8"/>
                </a:solidFill>
              </a:defRPr>
            </a:pPr>
            <a:r>
              <a:rPr dirty="0"/>
              <a:t>Phase 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2468880"/>
            <a:ext cx="2286000" cy="3713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000000"/>
                </a:solidFill>
              </a:defRPr>
            </a:pPr>
            <a:r>
              <a:rPr sz="1600" dirty="0"/>
              <a:t>Start high-level</a:t>
            </a:r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000000"/>
                </a:solidFill>
              </a:defRPr>
            </a:pPr>
            <a:r>
              <a:rPr sz="1600" dirty="0"/>
              <a:t>Get more detailed</a:t>
            </a:r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000000"/>
                </a:solidFill>
              </a:defRPr>
            </a:pPr>
            <a:r>
              <a:rPr sz="1600" dirty="0"/>
              <a:t>Tell a story of a full end-to-end process</a:t>
            </a:r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000000"/>
                </a:solidFill>
              </a:defRPr>
            </a:pPr>
            <a:r>
              <a:rPr sz="1600" dirty="0"/>
              <a:t>Prioritize business critical processes earlier</a:t>
            </a:r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000000"/>
                </a:solidFill>
              </a:defRPr>
            </a:pPr>
            <a:r>
              <a:rPr sz="1600" dirty="0"/>
              <a:t>Prioritize high-impact change processes earlier</a:t>
            </a:r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000000"/>
                </a:solidFill>
              </a:defRPr>
            </a:pPr>
            <a:r>
              <a:rPr sz="1600" dirty="0"/>
              <a:t>Solution blueprint deliverable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35040" y="3657600"/>
            <a:ext cx="548640" cy="365760"/>
          </a:xfrm>
          <a:prstGeom prst="rightArrow">
            <a:avLst/>
          </a:prstGeom>
          <a:solidFill>
            <a:srgbClr val="936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371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4472C4"/>
                </a:solidFill>
              </a:defRPr>
            </a:pPr>
            <a:r>
              <a:rPr dirty="0"/>
              <a:t>Iterative/Ongoing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82880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/>
            </a:pPr>
            <a:r>
              <a:t>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2286000" cy="3713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000000"/>
                </a:solidFill>
              </a:defRPr>
            </a:pPr>
            <a:r>
              <a:rPr sz="1600" dirty="0"/>
              <a:t>Start high-level</a:t>
            </a:r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000000"/>
                </a:solidFill>
              </a:defRPr>
            </a:pPr>
            <a:r>
              <a:rPr sz="1600" dirty="0"/>
              <a:t>Get more detailed</a:t>
            </a:r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000000"/>
                </a:solidFill>
              </a:defRPr>
            </a:pPr>
            <a:r>
              <a:rPr sz="1600" dirty="0"/>
              <a:t>Becomes most detailed</a:t>
            </a:r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000000"/>
                </a:solidFill>
              </a:defRPr>
            </a:pPr>
            <a:r>
              <a:rPr sz="1600" dirty="0"/>
              <a:t>Prioritize business critical processes earlier</a:t>
            </a:r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000000"/>
                </a:solidFill>
              </a:defRPr>
            </a:pPr>
            <a:r>
              <a:rPr sz="1600" dirty="0"/>
              <a:t>Prioritize high-impact change processes earlier</a:t>
            </a:r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solidFill>
                  <a:srgbClr val="000000"/>
                </a:solidFill>
              </a:defRPr>
            </a:pPr>
            <a:r>
              <a:rPr sz="1600" dirty="0"/>
              <a:t>Refined solution blueprint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2286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</a:defRPr>
            </a:pPr>
            <a:r>
              <a:rPr dirty="0"/>
              <a:t>Multi-</a:t>
            </a:r>
          </a:p>
          <a:p>
            <a:r>
              <a:rPr dirty="0"/>
              <a:t>solution/phase</a:t>
            </a:r>
          </a:p>
          <a:p>
            <a:r>
              <a:rPr dirty="0"/>
              <a:t>estimates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2926080" y="457200"/>
            <a:ext cx="45720" cy="5943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383280" y="1097280"/>
            <a:ext cx="5303520" cy="3959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Font typeface="+mj-lt"/>
              <a:buAutoNum type="arabicPeriod"/>
              <a:defRPr sz="1800">
                <a:solidFill>
                  <a:srgbClr val="000000"/>
                </a:solidFill>
              </a:defRPr>
            </a:pPr>
            <a:r>
              <a:rPr dirty="0"/>
              <a:t>Consider end-to-end process rather than individual products</a:t>
            </a:r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Font typeface="+mj-lt"/>
              <a:buAutoNum type="arabicPeriod"/>
              <a:defRPr sz="1800">
                <a:solidFill>
                  <a:srgbClr val="000000"/>
                </a:solidFill>
              </a:defRPr>
            </a:pPr>
            <a:r>
              <a:rPr dirty="0"/>
              <a:t>Map out the overall data model</a:t>
            </a:r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Font typeface="+mj-lt"/>
              <a:buAutoNum type="arabicPeriod"/>
              <a:defRPr sz="1800">
                <a:solidFill>
                  <a:srgbClr val="000000"/>
                </a:solidFill>
              </a:defRPr>
            </a:pPr>
            <a:r>
              <a:rPr dirty="0"/>
              <a:t>Plan the roll-out strategy</a:t>
            </a:r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Font typeface="+mj-lt"/>
              <a:buAutoNum type="arabicPeriod"/>
              <a:defRPr sz="1800">
                <a:solidFill>
                  <a:srgbClr val="000000"/>
                </a:solidFill>
              </a:defRPr>
            </a:pPr>
            <a:r>
              <a:rPr dirty="0"/>
              <a:t>Create workstreams with end-to-end processes that deliver business value for each phase</a:t>
            </a:r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Font typeface="+mj-lt"/>
              <a:buAutoNum type="arabicPeriod"/>
              <a:defRPr sz="1800">
                <a:solidFill>
                  <a:srgbClr val="000000"/>
                </a:solidFill>
              </a:defRPr>
            </a:pPr>
            <a:r>
              <a:rPr dirty="0"/>
              <a:t>Align estimates with workstreams and deliverables</a:t>
            </a:r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Font typeface="+mj-lt"/>
              <a:buAutoNum type="arabicPeriod"/>
              <a:defRPr sz="1800">
                <a:solidFill>
                  <a:srgbClr val="000000"/>
                </a:solidFill>
              </a:defRPr>
            </a:pPr>
            <a:r>
              <a:rPr dirty="0"/>
              <a:t>Review for shared resources (people, environments, etc.)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Recommended practices for discovery (1/2)</a:t>
            </a:r>
          </a:p>
        </p:txBody>
      </p:sp>
      <p:sp>
        <p:nvSpPr>
          <p:cNvPr id="3" name="Oval 2"/>
          <p:cNvSpPr/>
          <p:nvPr/>
        </p:nvSpPr>
        <p:spPr>
          <a:xfrm>
            <a:off x="708660" y="1189421"/>
            <a:ext cx="822960" cy="822960"/>
          </a:xfrm>
          <a:prstGeom prst="ellipse">
            <a:avLst/>
          </a:prstGeom>
          <a:solidFill>
            <a:srgbClr val="936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0100" y="1280861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600">
                <a:solidFill>
                  <a:srgbClr val="FFFFFF"/>
                </a:solidFill>
              </a:defRPr>
            </a:pPr>
            <a:r>
              <a:rPr dirty="0"/>
              <a:t>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8780" y="1280861"/>
            <a:ext cx="2465070" cy="8210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defRPr sz="1400">
                <a:solidFill>
                  <a:srgbClr val="000000"/>
                </a:solidFill>
              </a:defRPr>
            </a:pPr>
            <a:r>
              <a:rPr dirty="0"/>
              <a:t>Ensure the right team is in place to drive discovery outcomes</a:t>
            </a:r>
          </a:p>
        </p:txBody>
      </p:sp>
      <p:sp>
        <p:nvSpPr>
          <p:cNvPr id="9" name="Oval 8"/>
          <p:cNvSpPr/>
          <p:nvPr/>
        </p:nvSpPr>
        <p:spPr>
          <a:xfrm>
            <a:off x="708660" y="2287402"/>
            <a:ext cx="822960" cy="822960"/>
          </a:xfrm>
          <a:prstGeom prst="ellipse">
            <a:avLst/>
          </a:prstGeom>
          <a:solidFill>
            <a:srgbClr val="936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0100" y="2378842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600">
                <a:solidFill>
                  <a:srgbClr val="FFFFFF"/>
                </a:solidFill>
              </a:defRPr>
            </a:pPr>
            <a:r>
              <a:rPr dirty="0"/>
              <a:t>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273264"/>
            <a:ext cx="2219960" cy="8210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defRPr sz="1400">
                <a:solidFill>
                  <a:srgbClr val="000000"/>
                </a:solidFill>
              </a:defRPr>
            </a:pPr>
            <a:r>
              <a:rPr dirty="0"/>
              <a:t>Include Change Management workstream in the planning step</a:t>
            </a:r>
          </a:p>
        </p:txBody>
      </p:sp>
      <p:sp>
        <p:nvSpPr>
          <p:cNvPr id="12" name="Oval 11"/>
          <p:cNvSpPr/>
          <p:nvPr/>
        </p:nvSpPr>
        <p:spPr>
          <a:xfrm>
            <a:off x="5264150" y="1183328"/>
            <a:ext cx="822960" cy="822960"/>
          </a:xfrm>
          <a:prstGeom prst="ellipse">
            <a:avLst/>
          </a:prstGeom>
          <a:solidFill>
            <a:srgbClr val="445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87010" y="1246410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600">
                <a:solidFill>
                  <a:srgbClr val="FFFFFF"/>
                </a:solidFill>
              </a:defRPr>
            </a:pPr>
            <a:r>
              <a:rPr dirty="0"/>
              <a:t>✍️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7130" y="1183328"/>
            <a:ext cx="2141220" cy="8210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defRPr sz="1400">
                <a:solidFill>
                  <a:srgbClr val="000000"/>
                </a:solidFill>
              </a:defRPr>
            </a:pPr>
            <a:r>
              <a:rPr dirty="0"/>
              <a:t>Include requirement documentation workshop in the workshop planning</a:t>
            </a:r>
          </a:p>
        </p:txBody>
      </p:sp>
      <p:sp>
        <p:nvSpPr>
          <p:cNvPr id="25" name="Oval 24"/>
          <p:cNvSpPr/>
          <p:nvPr/>
        </p:nvSpPr>
        <p:spPr>
          <a:xfrm>
            <a:off x="708660" y="3335208"/>
            <a:ext cx="845527" cy="822960"/>
          </a:xfrm>
          <a:prstGeom prst="ellipse">
            <a:avLst/>
          </a:prstGeom>
          <a:solidFill>
            <a:srgbClr val="445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8831" y="3500466"/>
            <a:ext cx="657632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600">
                <a:solidFill>
                  <a:srgbClr val="FFFFFF"/>
                </a:solidFill>
              </a:defRPr>
            </a:pPr>
            <a:r>
              <a:rPr dirty="0"/>
              <a:t>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628" y="3337109"/>
            <a:ext cx="1972603" cy="8210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defRPr sz="1400">
                <a:solidFill>
                  <a:srgbClr val="000000"/>
                </a:solidFill>
              </a:defRPr>
            </a:pPr>
            <a:r>
              <a:rPr dirty="0"/>
              <a:t>Record the sessions and upload to the project document repository</a:t>
            </a:r>
          </a:p>
        </p:txBody>
      </p:sp>
      <p:sp>
        <p:nvSpPr>
          <p:cNvPr id="28" name="Oval 27"/>
          <p:cNvSpPr/>
          <p:nvPr/>
        </p:nvSpPr>
        <p:spPr>
          <a:xfrm>
            <a:off x="5265420" y="2282128"/>
            <a:ext cx="822960" cy="822960"/>
          </a:xfrm>
          <a:prstGeom prst="ellipse">
            <a:avLst/>
          </a:prstGeom>
          <a:solidFill>
            <a:srgbClr val="445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356860" y="2373568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600">
                <a:solidFill>
                  <a:srgbClr val="FFFFFF"/>
                </a:solidFill>
              </a:defRPr>
            </a:pPr>
            <a:r>
              <a:rPr dirty="0"/>
              <a:t>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02387" y="2306258"/>
            <a:ext cx="1972603" cy="8210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defRPr sz="1400">
                <a:solidFill>
                  <a:srgbClr val="000000"/>
                </a:solidFill>
              </a:defRPr>
            </a:pPr>
            <a:r>
              <a:rPr dirty="0"/>
              <a:t>Capture all relevant information in ADO/repository</a:t>
            </a:r>
          </a:p>
        </p:txBody>
      </p:sp>
      <p:sp>
        <p:nvSpPr>
          <p:cNvPr id="31" name="Oval 30"/>
          <p:cNvSpPr/>
          <p:nvPr/>
        </p:nvSpPr>
        <p:spPr>
          <a:xfrm>
            <a:off x="5287010" y="3350709"/>
            <a:ext cx="822960" cy="822960"/>
          </a:xfrm>
          <a:prstGeom prst="ellipse">
            <a:avLst/>
          </a:prstGeom>
          <a:solidFill>
            <a:srgbClr val="445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378450" y="3442149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600">
                <a:solidFill>
                  <a:srgbClr val="FFFFFF"/>
                </a:solidFill>
              </a:defRPr>
            </a:pPr>
            <a:r>
              <a:rPr dirty="0"/>
              <a:t>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47130" y="3335208"/>
            <a:ext cx="2141220" cy="20598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defRPr sz="1400">
                <a:solidFill>
                  <a:srgbClr val="000000"/>
                </a:solidFill>
              </a:defRPr>
            </a:pPr>
            <a:r>
              <a:rPr dirty="0"/>
              <a:t>The solution blueprint should contain all areas of the solution, including but not limited to external integrations, interfaces, data migrations, and other interactions with Dynamics 365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69">
            <a:extLst>
              <a:ext uri="{FF2B5EF4-FFF2-40B4-BE49-F238E27FC236}">
                <a16:creationId xmlns:a16="http://schemas.microsoft.com/office/drawing/2014/main" id="{2AE4878D-3AED-2E27-4725-7D83B28F6B8C}"/>
              </a:ext>
            </a:extLst>
          </p:cNvPr>
          <p:cNvSpPr/>
          <p:nvPr/>
        </p:nvSpPr>
        <p:spPr>
          <a:xfrm>
            <a:off x="306435" y="4630947"/>
            <a:ext cx="4335415" cy="1617452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CE92DEC-019B-6DAC-345B-CB552D2AB4C2}"/>
              </a:ext>
            </a:extLst>
          </p:cNvPr>
          <p:cNvSpPr/>
          <p:nvPr/>
        </p:nvSpPr>
        <p:spPr>
          <a:xfrm>
            <a:off x="7004051" y="1071729"/>
            <a:ext cx="2076448" cy="167336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9796772-A7FA-155C-3474-EA15C914A3B2}"/>
              </a:ext>
            </a:extLst>
          </p:cNvPr>
          <p:cNvSpPr/>
          <p:nvPr/>
        </p:nvSpPr>
        <p:spPr>
          <a:xfrm>
            <a:off x="306435" y="2728801"/>
            <a:ext cx="8774064" cy="1902146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The discovery process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52155" y="1514354"/>
            <a:ext cx="1828800" cy="685801"/>
          </a:xfrm>
          <a:prstGeom prst="roundRect">
            <a:avLst/>
          </a:prstGeom>
          <a:solidFill>
            <a:srgbClr val="9365B8"/>
          </a:solidFill>
          <a:ln w="12700">
            <a:solidFill>
              <a:srgbClr val="936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95000"/>
              </a:lnSpc>
              <a:defRPr sz="1000">
                <a:solidFill>
                  <a:srgbClr val="FFFFFF"/>
                </a:solidFill>
              </a:defRPr>
            </a:pPr>
            <a:r>
              <a:rPr sz="1600" dirty="0"/>
              <a:t>Entry criteria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21375" y="1514356"/>
            <a:ext cx="1828800" cy="685801"/>
          </a:xfrm>
          <a:prstGeom prst="roundRect">
            <a:avLst/>
          </a:prstGeom>
          <a:solidFill>
            <a:srgbClr val="9365B8"/>
          </a:solidFill>
          <a:ln w="12700">
            <a:solidFill>
              <a:srgbClr val="936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95000"/>
              </a:lnSpc>
              <a:defRPr sz="1000">
                <a:solidFill>
                  <a:srgbClr val="FFFFFF"/>
                </a:solidFill>
              </a:defRPr>
            </a:pPr>
            <a:r>
              <a:rPr sz="1600" dirty="0"/>
              <a:t>Kick off meeting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0595" y="1514355"/>
            <a:ext cx="1828800" cy="685801"/>
          </a:xfrm>
          <a:prstGeom prst="roundRect">
            <a:avLst/>
          </a:prstGeom>
          <a:solidFill>
            <a:srgbClr val="9365B8"/>
          </a:solidFill>
          <a:ln w="12700">
            <a:solidFill>
              <a:srgbClr val="936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95000"/>
              </a:lnSpc>
              <a:defRPr sz="1000">
                <a:solidFill>
                  <a:srgbClr val="FFFFFF"/>
                </a:solidFill>
              </a:defRPr>
            </a:pPr>
            <a:r>
              <a:rPr sz="1600" dirty="0"/>
              <a:t>Baseline solution 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73420" y="1514354"/>
            <a:ext cx="1828800" cy="685801"/>
          </a:xfrm>
          <a:prstGeom prst="roundRect">
            <a:avLst/>
          </a:prstGeom>
          <a:solidFill>
            <a:srgbClr val="9365B8"/>
          </a:solidFill>
          <a:ln w="12700">
            <a:solidFill>
              <a:srgbClr val="936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95000"/>
              </a:lnSpc>
              <a:defRPr sz="1000">
                <a:solidFill>
                  <a:srgbClr val="FFFFFF"/>
                </a:solidFill>
              </a:defRPr>
            </a:pPr>
            <a:r>
              <a:rPr sz="1600" dirty="0"/>
              <a:t>Plan discovery workshops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2110" y="3301998"/>
            <a:ext cx="1828800" cy="685801"/>
          </a:xfrm>
          <a:prstGeom prst="roundRect">
            <a:avLst/>
          </a:prstGeom>
          <a:solidFill>
            <a:srgbClr val="445484"/>
          </a:solidFill>
          <a:ln w="12700">
            <a:solidFill>
              <a:srgbClr val="445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95000"/>
              </a:lnSpc>
              <a:defRPr sz="1000">
                <a:solidFill>
                  <a:srgbClr val="FFFFFF"/>
                </a:solidFill>
              </a:defRPr>
            </a:pPr>
            <a:r>
              <a:rPr sz="1600" dirty="0"/>
              <a:t>Conduct discovery workshops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34980" y="3301997"/>
            <a:ext cx="1828800" cy="685801"/>
          </a:xfrm>
          <a:prstGeom prst="roundRect">
            <a:avLst/>
          </a:prstGeom>
          <a:solidFill>
            <a:srgbClr val="445484"/>
          </a:solidFill>
          <a:ln w="12700">
            <a:solidFill>
              <a:srgbClr val="445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95000"/>
              </a:lnSpc>
              <a:defRPr sz="1000">
                <a:solidFill>
                  <a:srgbClr val="FFFFFF"/>
                </a:solidFill>
              </a:defRPr>
            </a:pPr>
            <a:r>
              <a:rPr sz="1600" dirty="0"/>
              <a:t>Capture business outcomes and requirements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04200" y="3301998"/>
            <a:ext cx="1828800" cy="685801"/>
          </a:xfrm>
          <a:prstGeom prst="roundRect">
            <a:avLst/>
          </a:prstGeom>
          <a:solidFill>
            <a:srgbClr val="445484"/>
          </a:solidFill>
          <a:ln w="12700">
            <a:solidFill>
              <a:srgbClr val="445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95000"/>
              </a:lnSpc>
              <a:defRPr sz="1000">
                <a:solidFill>
                  <a:srgbClr val="FFFFFF"/>
                </a:solidFill>
              </a:defRPr>
            </a:pPr>
            <a:r>
              <a:rPr sz="1600" dirty="0"/>
              <a:t>Create initial solution configuration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3420" y="3304691"/>
            <a:ext cx="1828800" cy="685801"/>
          </a:xfrm>
          <a:prstGeom prst="roundRect">
            <a:avLst/>
          </a:prstGeom>
          <a:solidFill>
            <a:srgbClr val="445484"/>
          </a:solidFill>
          <a:ln w="12700">
            <a:solidFill>
              <a:srgbClr val="445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95000"/>
              </a:lnSpc>
              <a:defRPr sz="1000">
                <a:solidFill>
                  <a:srgbClr val="FFFFFF"/>
                </a:solidFill>
              </a:defRPr>
            </a:pPr>
            <a:r>
              <a:rPr sz="1600" dirty="0"/>
              <a:t>Gather and import customer 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2110" y="5019811"/>
            <a:ext cx="1828800" cy="685801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95000"/>
              </a:lnSpc>
              <a:defRPr sz="1000">
                <a:solidFill>
                  <a:srgbClr val="FFFFFF"/>
                </a:solidFill>
              </a:defRPr>
            </a:pPr>
            <a:r>
              <a:rPr sz="1600" dirty="0"/>
              <a:t>Demo initial solution configuration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41330" y="5019810"/>
            <a:ext cx="1828800" cy="685801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95000"/>
              </a:lnSpc>
              <a:defRPr sz="1000">
                <a:solidFill>
                  <a:srgbClr val="FFFFFF"/>
                </a:solidFill>
              </a:defRPr>
            </a:pPr>
            <a:r>
              <a:rPr sz="1600" dirty="0"/>
              <a:t>Document risks, actions, issues, and decisions (RAID)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0" y="2194560"/>
            <a:ext cx="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6217920" y="0"/>
            <a:ext cx="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032374" y="5019811"/>
            <a:ext cx="1828800" cy="685801"/>
          </a:xfrm>
          <a:prstGeom prst="roundRect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95000"/>
              </a:lnSpc>
              <a:defRPr sz="1000">
                <a:solidFill>
                  <a:srgbClr val="FFFFFF"/>
                </a:solidFill>
              </a:defRPr>
            </a:pPr>
            <a:r>
              <a:rPr sz="1600" dirty="0"/>
              <a:t>Estimate the effort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68669" y="5019809"/>
            <a:ext cx="1828800" cy="685801"/>
          </a:xfrm>
          <a:prstGeom prst="roundRect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95000"/>
              </a:lnSpc>
              <a:defRPr sz="1000">
                <a:solidFill>
                  <a:srgbClr val="FFFFFF"/>
                </a:solidFill>
              </a:defRPr>
            </a:pPr>
            <a:r>
              <a:rPr sz="1600" dirty="0"/>
              <a:t>Exit criteria</a:t>
            </a:r>
          </a:p>
        </p:txBody>
      </p:sp>
      <p:pic>
        <p:nvPicPr>
          <p:cNvPr id="33" name="Graphic 32" descr="Continuous Improvement with solid fill">
            <a:extLst>
              <a:ext uri="{FF2B5EF4-FFF2-40B4-BE49-F238E27FC236}">
                <a16:creationId xmlns:a16="http://schemas.microsoft.com/office/drawing/2014/main" id="{2C61F42D-4BFC-CDFB-F6D6-C3A11C737D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9948" y="2476411"/>
            <a:ext cx="1125221" cy="1125221"/>
          </a:xfrm>
          <a:prstGeom prst="rect">
            <a:avLst/>
          </a:prstGeom>
        </p:spPr>
      </p:pic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BCC4DA12-0F95-D7C9-49AA-F110F972B3E0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2180955" y="1857255"/>
            <a:ext cx="440420" cy="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8542C9EA-1092-CB3C-D300-FC1B5F34F2B0}"/>
              </a:ext>
            </a:extLst>
          </p:cNvPr>
          <p:cNvCxnSpPr>
            <a:stCxn id="5" idx="3"/>
            <a:endCxn id="7" idx="1"/>
          </p:cNvCxnSpPr>
          <p:nvPr/>
        </p:nvCxnSpPr>
        <p:spPr>
          <a:xfrm flipV="1">
            <a:off x="4450175" y="1857256"/>
            <a:ext cx="440420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4AD8141B-F97D-EF7E-66D0-CFCD18B7FA7A}"/>
              </a:ext>
            </a:extLst>
          </p:cNvPr>
          <p:cNvCxnSpPr>
            <a:stCxn id="7" idx="3"/>
            <a:endCxn id="9" idx="1"/>
          </p:cNvCxnSpPr>
          <p:nvPr/>
        </p:nvCxnSpPr>
        <p:spPr>
          <a:xfrm flipV="1">
            <a:off x="6719395" y="1857255"/>
            <a:ext cx="454025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C687A835-5E88-C446-B349-92E440750523}"/>
              </a:ext>
            </a:extLst>
          </p:cNvPr>
          <p:cNvCxnSpPr>
            <a:stCxn id="9" idx="2"/>
            <a:endCxn id="18" idx="0"/>
          </p:cNvCxnSpPr>
          <p:nvPr/>
        </p:nvCxnSpPr>
        <p:spPr>
          <a:xfrm rot="5400000">
            <a:off x="7535552" y="2752423"/>
            <a:ext cx="1104536" cy="1270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07B82CDB-CECB-9C4C-3B9E-4DA3730C80D0}"/>
              </a:ext>
            </a:extLst>
          </p:cNvPr>
          <p:cNvCxnSpPr>
            <a:stCxn id="18" idx="1"/>
            <a:endCxn id="16" idx="3"/>
          </p:cNvCxnSpPr>
          <p:nvPr/>
        </p:nvCxnSpPr>
        <p:spPr>
          <a:xfrm rot="10800000">
            <a:off x="6733000" y="3644900"/>
            <a:ext cx="440420" cy="269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7CFF1717-D21A-2D68-620E-C00E484B7F55}"/>
              </a:ext>
            </a:extLst>
          </p:cNvPr>
          <p:cNvCxnSpPr>
            <a:stCxn id="16" idx="1"/>
            <a:endCxn id="14" idx="3"/>
          </p:cNvCxnSpPr>
          <p:nvPr/>
        </p:nvCxnSpPr>
        <p:spPr>
          <a:xfrm rot="10800000">
            <a:off x="4463780" y="3644899"/>
            <a:ext cx="440420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FF499F4A-261A-960F-1CAE-D26939970F2A}"/>
              </a:ext>
            </a:extLst>
          </p:cNvPr>
          <p:cNvCxnSpPr>
            <a:stCxn id="14" idx="1"/>
            <a:endCxn id="12" idx="3"/>
          </p:cNvCxnSpPr>
          <p:nvPr/>
        </p:nvCxnSpPr>
        <p:spPr>
          <a:xfrm rot="10800000" flipV="1">
            <a:off x="2200910" y="3644897"/>
            <a:ext cx="434070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DDDF5F40-4242-B3B4-C7CA-07BD23B12A1F}"/>
              </a:ext>
            </a:extLst>
          </p:cNvPr>
          <p:cNvCxnSpPr>
            <a:stCxn id="12" idx="2"/>
            <a:endCxn id="20" idx="0"/>
          </p:cNvCxnSpPr>
          <p:nvPr/>
        </p:nvCxnSpPr>
        <p:spPr>
          <a:xfrm rot="5400000">
            <a:off x="770504" y="4503805"/>
            <a:ext cx="1032012" cy="1270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67B054FE-489B-09BF-CE96-52A95F452A35}"/>
              </a:ext>
            </a:extLst>
          </p:cNvPr>
          <p:cNvCxnSpPr>
            <a:stCxn id="20" idx="3"/>
            <a:endCxn id="21" idx="1"/>
          </p:cNvCxnSpPr>
          <p:nvPr/>
        </p:nvCxnSpPr>
        <p:spPr>
          <a:xfrm flipV="1">
            <a:off x="2200910" y="5362711"/>
            <a:ext cx="440420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349CFFD8-A002-31E7-66DD-4684C21A43D3}"/>
              </a:ext>
            </a:extLst>
          </p:cNvPr>
          <p:cNvCxnSpPr>
            <a:stCxn id="21" idx="3"/>
            <a:endCxn id="27" idx="1"/>
          </p:cNvCxnSpPr>
          <p:nvPr/>
        </p:nvCxnSpPr>
        <p:spPr>
          <a:xfrm>
            <a:off x="4470130" y="5362711"/>
            <a:ext cx="562244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D1B9C166-CD1B-3CC3-B20A-B6594740B531}"/>
              </a:ext>
            </a:extLst>
          </p:cNvPr>
          <p:cNvCxnSpPr>
            <a:cxnSpLocks/>
            <a:stCxn id="27" idx="3"/>
            <a:endCxn id="28" idx="1"/>
          </p:cNvCxnSpPr>
          <p:nvPr/>
        </p:nvCxnSpPr>
        <p:spPr>
          <a:xfrm flipV="1">
            <a:off x="6861174" y="5362710"/>
            <a:ext cx="407495" cy="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228600" y="1508760"/>
            <a:ext cx="8503920" cy="1600200"/>
          </a:xfrm>
          <a:prstGeom prst="round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The discovery process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05840"/>
            <a:ext cx="1828800" cy="502920"/>
          </a:xfrm>
          <a:prstGeom prst="roundRect">
            <a:avLst/>
          </a:prstGeom>
          <a:solidFill>
            <a:srgbClr val="9365B8"/>
          </a:solidFill>
          <a:ln w="12700">
            <a:solidFill>
              <a:srgbClr val="936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95000"/>
              </a:lnSpc>
              <a:defRPr sz="1000">
                <a:solidFill>
                  <a:srgbClr val="FFFFFF"/>
                </a:solidFill>
              </a:defRPr>
            </a:pPr>
            <a:r>
              <a:t>Entry criteria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194560" y="1257300.0"/>
            <a:ext cx="182880" cy="0.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377440" y="1005840"/>
            <a:ext cx="1828800" cy="502920"/>
          </a:xfrm>
          <a:prstGeom prst="roundRect">
            <a:avLst/>
          </a:prstGeom>
          <a:solidFill>
            <a:srgbClr val="9365B8"/>
          </a:solidFill>
          <a:ln w="12700">
            <a:solidFill>
              <a:srgbClr val="936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95000"/>
              </a:lnSpc>
              <a:defRPr sz="1000">
                <a:solidFill>
                  <a:srgbClr val="FFFFFF"/>
                </a:solidFill>
              </a:defRPr>
            </a:pPr>
            <a:r>
              <a:t>Kick off meeting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206240" y="1257300.0"/>
            <a:ext cx="182880" cy="0.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389120" y="1005840"/>
            <a:ext cx="1828800" cy="502920"/>
          </a:xfrm>
          <a:prstGeom prst="roundRect">
            <a:avLst/>
          </a:prstGeom>
          <a:solidFill>
            <a:srgbClr val="9365B8"/>
          </a:solidFill>
          <a:ln w="12700">
            <a:solidFill>
              <a:srgbClr val="936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95000"/>
              </a:lnSpc>
              <a:defRPr sz="1000">
                <a:solidFill>
                  <a:srgbClr val="FFFFFF"/>
                </a:solidFill>
              </a:defRPr>
            </a:pPr>
            <a:r>
              <a:t>Baseline solution architecture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217920" y="1257300.0"/>
            <a:ext cx="182880" cy="0.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400800" y="1005840"/>
            <a:ext cx="1828800" cy="502920"/>
          </a:xfrm>
          <a:prstGeom prst="roundRect">
            <a:avLst/>
          </a:prstGeom>
          <a:solidFill>
            <a:srgbClr val="9365B8"/>
          </a:solidFill>
          <a:ln w="12700">
            <a:solidFill>
              <a:srgbClr val="936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95000"/>
              </a:lnSpc>
              <a:defRPr sz="1000">
                <a:solidFill>
                  <a:srgbClr val="FFFFFF"/>
                </a:solidFill>
              </a:defRPr>
            </a:pPr>
            <a:r>
              <a:t>Plan discovery workshops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6002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691640"/>
            <a:ext cx="1828800" cy="502920"/>
          </a:xfrm>
          <a:prstGeom prst="roundRect">
            <a:avLst/>
          </a:prstGeom>
          <a:solidFill>
            <a:srgbClr val="445484"/>
          </a:solidFill>
          <a:ln w="12700">
            <a:solidFill>
              <a:srgbClr val="445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95000"/>
              </a:lnSpc>
              <a:defRPr sz="1000">
                <a:solidFill>
                  <a:srgbClr val="FFFFFF"/>
                </a:solidFill>
              </a:defRPr>
            </a:pPr>
            <a:r>
              <a:t>Conduct discovery workshops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194560" y="1943100.0"/>
            <a:ext cx="182880" cy="0.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377440" y="1691640"/>
            <a:ext cx="1828800" cy="502920"/>
          </a:xfrm>
          <a:prstGeom prst="roundRect">
            <a:avLst/>
          </a:prstGeom>
          <a:solidFill>
            <a:srgbClr val="445484"/>
          </a:solidFill>
          <a:ln w="12700">
            <a:solidFill>
              <a:srgbClr val="445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95000"/>
              </a:lnSpc>
              <a:defRPr sz="1000">
                <a:solidFill>
                  <a:srgbClr val="FFFFFF"/>
                </a:solidFill>
              </a:defRPr>
            </a:pPr>
            <a:r>
              <a:t>Capture business outcomes and requirements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206240" y="1943100.0"/>
            <a:ext cx="182880" cy="0.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389120" y="1691640"/>
            <a:ext cx="1828800" cy="502920"/>
          </a:xfrm>
          <a:prstGeom prst="roundRect">
            <a:avLst/>
          </a:prstGeom>
          <a:solidFill>
            <a:srgbClr val="445484"/>
          </a:solidFill>
          <a:ln w="12700">
            <a:solidFill>
              <a:srgbClr val="445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95000"/>
              </a:lnSpc>
              <a:defRPr sz="1000">
                <a:solidFill>
                  <a:srgbClr val="FFFFFF"/>
                </a:solidFill>
              </a:defRPr>
            </a:pPr>
            <a:r>
              <a:t>Create initial solution configuration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17920" y="1943100.0"/>
            <a:ext cx="182880" cy="0.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400800" y="1691640"/>
            <a:ext cx="1828800" cy="502920"/>
          </a:xfrm>
          <a:prstGeom prst="roundRect">
            <a:avLst/>
          </a:prstGeom>
          <a:solidFill>
            <a:srgbClr val="445484"/>
          </a:solidFill>
          <a:ln w="12700">
            <a:solidFill>
              <a:srgbClr val="445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95000"/>
              </a:lnSpc>
              <a:defRPr sz="1000">
                <a:solidFill>
                  <a:srgbClr val="FFFFFF"/>
                </a:solidFill>
              </a:defRPr>
            </a:pPr>
            <a:r>
              <a:t>Gather and import customer data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15200.0" y="1508760"/>
            <a:ext cx="0.0" cy="18288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65760" y="2377440"/>
            <a:ext cx="1828800" cy="50292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95000"/>
              </a:lnSpc>
              <a:defRPr sz="1000">
                <a:solidFill>
                  <a:srgbClr val="FFFFFF"/>
                </a:solidFill>
              </a:defRPr>
            </a:pPr>
            <a:r>
              <a:t>Demo initial solution configuration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2377440"/>
            <a:ext cx="1828800" cy="50292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95000"/>
              </a:lnSpc>
              <a:defRPr sz="1000">
                <a:solidFill>
                  <a:srgbClr val="FFFFFF"/>
                </a:solidFill>
              </a:defRPr>
            </a:pPr>
            <a:r>
              <a:t>Document risks, actions, issues, and decisions (RAID)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194560" y="2628900.0"/>
            <a:ext cx="182880" cy="0.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77440" y="2628900.0"/>
            <a:ext cx="182880" cy="0.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80160.0" y="2194560"/>
            <a:ext cx="0.0" cy="18288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315200.0" y="2194560"/>
            <a:ext cx="0.0" cy="434340.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6217920" y="2628900.0"/>
            <a:ext cx="1097280.0" cy="0.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389120" y="3063240"/>
            <a:ext cx="1828800" cy="502920"/>
          </a:xfrm>
          <a:prstGeom prst="roundRect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95000"/>
              </a:lnSpc>
              <a:defRPr sz="1000">
                <a:solidFill>
                  <a:srgbClr val="FFFFFF"/>
                </a:solidFill>
              </a:defRPr>
            </a:pPr>
            <a:r>
              <a:t>Estimate the effort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063240"/>
            <a:ext cx="1828800" cy="502920"/>
          </a:xfrm>
          <a:prstGeom prst="roundRect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95000"/>
              </a:lnSpc>
              <a:defRPr sz="1000">
                <a:solidFill>
                  <a:srgbClr val="FFFFFF"/>
                </a:solidFill>
              </a:defRPr>
            </a:pPr>
            <a:r>
              <a:t>Exit criteria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217920" y="3314700.0"/>
            <a:ext cx="182880" cy="0.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03520.0" y="2880360"/>
            <a:ext cx="0.0" cy="18288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2890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100</TotalTime>
  <Words>1079</Words>
  <Application>Microsoft Office PowerPoint</Application>
  <PresentationFormat>On-screen Show (4:3)</PresentationFormat>
  <Paragraphs>194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Jurijus Mirošničenko</cp:lastModifiedBy>
  <cp:revision>11</cp:revision>
  <dcterms:created xsi:type="dcterms:W3CDTF">2013-01-27T09:14:16Z</dcterms:created>
  <dcterms:modified xsi:type="dcterms:W3CDTF">2025-11-04T06:52:59Z</dcterms:modified>
  <cp:category/>
</cp:coreProperties>
</file>