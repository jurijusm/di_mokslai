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7" r:id="rId4"/>
    <p:sldId id="258" r:id="rId5"/>
    <p:sldId id="260" r:id="rId6"/>
    <p:sldId id="263" r:id="rId7"/>
    <p:sldId id="261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6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CA4D4-E2D1-463A-B4BC-415E6A5736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E084A-C186-45A8-8EE6-436978226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4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1️⃣ Consider end-to-end process rather than individual products</a:t>
            </a:r>
          </a:p>
          <a:p>
            <a:endParaRPr/>
          </a:p>
          <a:p>
            <a:r>
              <a:t>Vertinkite procesą nuo pradžios iki pabaigos, o ne atskirus produktus.</a:t>
            </a:r>
          </a:p>
          <a:p>
            <a:endParaRPr/>
          </a:p>
          <a:p>
            <a:r>
              <a:t>Paaiškinimas:</a:t>
            </a:r>
          </a:p>
          <a:p>
            <a:r>
              <a:t>Nesvarbu, kad diegiate kelis produktus (pvz., D365 Finance ir D365 Supply Chain). Vertinimas turi būti daromas per visą verslo procesą, pvz.:</a:t>
            </a:r>
          </a:p>
          <a:p>
            <a:r>
              <a:t>• nuo užsakymo gavimo iki sąskaitos išrašymo,</a:t>
            </a:r>
          </a:p>
          <a:p>
            <a:r>
              <a:t>• nuo žaliavos pirkimo iki galutinio produkto pardavimo.</a:t>
            </a:r>
          </a:p>
          <a:p>
            <a:r>
              <a:t>Tokiu būdu sąmata remiasi verslo vertės srautu, o ne tik moduliais.</a:t>
            </a:r>
          </a:p>
          <a:p>
            <a:endParaRPr/>
          </a:p>
          <a:p>
            <a:r>
              <a:t>2️⃣ Map out the overall data model</a:t>
            </a:r>
          </a:p>
          <a:p>
            <a:endParaRPr/>
          </a:p>
          <a:p>
            <a:r>
              <a:t>Nubraižykite bendrą duomenų modelį.</a:t>
            </a:r>
          </a:p>
          <a:p>
            <a:endParaRPr/>
          </a:p>
          <a:p>
            <a:r>
              <a:t>Paaiškinimas:</a:t>
            </a:r>
          </a:p>
          <a:p>
            <a:r>
              <a:t>Skirtingi sprendimai (Finance, SCM, CRM, Power Apps) naudoja skirtingas duomenų struktūras.</a:t>
            </a:r>
          </a:p>
          <a:p>
            <a:r>
              <a:t>Reikia iš anksto nustatyti:</a:t>
            </a:r>
          </a:p>
          <a:p>
            <a:r>
              <a:t>• kaip duomenys bus dalijami tarp sistemų,</a:t>
            </a:r>
          </a:p>
          <a:p>
            <a:r>
              <a:t>• kur bus "source of truth",</a:t>
            </a:r>
          </a:p>
          <a:p>
            <a:r>
              <a:t>• kaip veiks integracijos ir ataskaitos.</a:t>
            </a:r>
          </a:p>
          <a:p>
            <a:r>
              <a:t>Tai padeda išvengti duomenų dubliavimo ir nerealistinių planų.</a:t>
            </a:r>
          </a:p>
          <a:p>
            <a:endParaRPr/>
          </a:p>
          <a:p>
            <a:r>
              <a:t>3️⃣ Plan the roll-out strategy</a:t>
            </a:r>
          </a:p>
          <a:p>
            <a:endParaRPr/>
          </a:p>
          <a:p>
            <a:r>
              <a:t>Suplanuokite įgyvendinimo (roll-out) strategiją.</a:t>
            </a:r>
          </a:p>
          <a:p>
            <a:endParaRPr/>
          </a:p>
          <a:p>
            <a:r>
              <a:t>Paaiškinimas:</a:t>
            </a:r>
          </a:p>
          <a:p>
            <a:r>
              <a:t>Nustatykite, kaip sistema bus diegiama:</a:t>
            </a:r>
          </a:p>
          <a:p>
            <a:r>
              <a:t>• Etapais (phased roll-out) – pvz., pirmiausia finansai, po to tiekimo grandinė.</a:t>
            </a:r>
          </a:p>
          <a:p>
            <a:r>
              <a:t>• Pagal regionus / filialus (wave deployment).</a:t>
            </a:r>
          </a:p>
          <a:p>
            <a:r>
              <a:t>• Pagal funkcinius srautus (workstreams).</a:t>
            </a:r>
          </a:p>
          <a:p>
            <a:r>
              <a:t>Tai leidžia realiai paskirstyti išteklius ir valdyti riziką.</a:t>
            </a:r>
          </a:p>
          <a:p>
            <a:endParaRPr/>
          </a:p>
          <a:p>
            <a:r>
              <a:t>4️⃣ Create workstreams with end-to-end processes that deliver business value for each phase</a:t>
            </a:r>
          </a:p>
          <a:p>
            <a:endParaRPr/>
          </a:p>
          <a:p>
            <a:r>
              <a:t>Sukurkite darbo srautus (workstreams), kurie kiekviename etape teiktų verslo vertę.</a:t>
            </a:r>
          </a:p>
          <a:p>
            <a:endParaRPr/>
          </a:p>
          <a:p>
            <a:r>
              <a:t>Paaiškinimas:</a:t>
            </a:r>
          </a:p>
          <a:p>
            <a:r>
              <a:t>Kiekvienas etapas turi turėti aiškų verslo rezultatą.</a:t>
            </a:r>
          </a:p>
          <a:p>
            <a:r>
              <a:t>Pvz.:</a:t>
            </a:r>
          </a:p>
          <a:p>
            <a:r>
              <a:t>• 1 fazė → įgalinami pagrindiniai finansai (P/L ataskaitos, biudžetai).</a:t>
            </a:r>
          </a:p>
          <a:p>
            <a:r>
              <a:t>• 2 fazė → įgyvendinama sandėliavimo automatizacija.</a:t>
            </a:r>
          </a:p>
          <a:p>
            <a:r>
              <a:t>• 3 fazė → integruojamas CRM su klientų savitarnos portalu.</a:t>
            </a:r>
          </a:p>
          <a:p>
            <a:r>
              <a:t>Kiekvienas "workstream" – tai mini-projektas, turintis aiškią vertę.</a:t>
            </a:r>
          </a:p>
          <a:p>
            <a:endParaRPr/>
          </a:p>
          <a:p>
            <a:r>
              <a:t>5️⃣ Align estimates with workstreams and deliverables</a:t>
            </a:r>
          </a:p>
          <a:p>
            <a:endParaRPr/>
          </a:p>
          <a:p>
            <a:r>
              <a:t>Suderinkite sąmatas su darbo srautais ir pristatomais rezultatais.</a:t>
            </a:r>
          </a:p>
          <a:p>
            <a:endParaRPr/>
          </a:p>
          <a:p>
            <a:r>
              <a:t>Paaiškinimas:</a:t>
            </a:r>
          </a:p>
          <a:p>
            <a:r>
              <a:t>Kiekvienas "workstream" turi turėti savo sąmatą (estimation) – kiek laiko ir resursų reikės, kad būtų pristatyti konkretūs deliverables (pvz., sukonfigūruotas modulis, testavimo scenarijai, mokymai).</a:t>
            </a:r>
          </a:p>
          <a:p>
            <a:r>
              <a:t>Tai užtikrina, kad vertinimai būtų skaidrūs ir pamatuojami pagal rezultatą.</a:t>
            </a:r>
          </a:p>
          <a:p>
            <a:endParaRPr/>
          </a:p>
          <a:p>
            <a:r>
              <a:t>6️⃣ Review for shared resources (people, environments, etc.)</a:t>
            </a:r>
          </a:p>
          <a:p>
            <a:endParaRPr/>
          </a:p>
          <a:p>
            <a:r>
              <a:t>Įvertinkite bendrus išteklius (žmones, aplinkas ir kt.).</a:t>
            </a:r>
          </a:p>
          <a:p>
            <a:endParaRPr/>
          </a:p>
          <a:p>
            <a:r>
              <a:t>Paaiškinimas:</a:t>
            </a:r>
          </a:p>
          <a:p>
            <a:r>
              <a:t>Daugelis išteklių naudojami keliuose etapuose:</a:t>
            </a:r>
          </a:p>
          <a:p>
            <a:r>
              <a:t>• tie patys konsultantai (pvz., Finance architect),</a:t>
            </a:r>
          </a:p>
          <a:p>
            <a:r>
              <a:t>• tos pačios "sandbox" ar "UAT" aplinkos,</a:t>
            </a:r>
          </a:p>
          <a:p>
            <a:r>
              <a:t>• bendra Power BI infrastruktūra ar duomenų bazės.</a:t>
            </a:r>
          </a:p>
          <a:p>
            <a:r>
              <a:t>Jei to neįvertini — kyla resursų konfliktai, vėlavimai ar dubliavimas sąmatose.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Purpose of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5123" y="1463040"/>
            <a:ext cx="4572000" cy="731520"/>
          </a:xfrm>
          <a:prstGeom prst="roundRect">
            <a:avLst/>
          </a:prstGeom>
          <a:solidFill>
            <a:srgbClr val="9365B8"/>
          </a:solidFill>
          <a:ln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Determine customer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08295" y="2468880"/>
            <a:ext cx="4572000" cy="731520"/>
          </a:xfrm>
          <a:prstGeom prst="roundRect">
            <a:avLst/>
          </a:prstGeom>
          <a:solidFill>
            <a:srgbClr val="445484"/>
          </a:solidFill>
          <a:ln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Map goals to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1184" y="3474720"/>
            <a:ext cx="4572000" cy="731520"/>
          </a:xfrm>
          <a:prstGeom prst="round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Map objectives to high level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6951" y="4480560"/>
            <a:ext cx="4572000" cy="731520"/>
          </a:xfrm>
          <a:prstGeom prst="roundRect">
            <a:avLst/>
          </a:prstGeom>
          <a:solidFill>
            <a:srgbClr val="4BACC6"/>
          </a:solidFill>
          <a:ln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Refine solutions to meet customer needs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611858" y="1992338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3">
            <a:extLst>
              <a:ext uri="{FF2B5EF4-FFF2-40B4-BE49-F238E27FC236}">
                <a16:creationId xmlns:a16="http://schemas.microsoft.com/office/drawing/2014/main" id="{70F18597-F0A9-D12B-BB7F-34B34DECC9AA}"/>
              </a:ext>
            </a:extLst>
          </p:cNvPr>
          <p:cNvSpPr/>
          <p:nvPr/>
        </p:nvSpPr>
        <p:spPr>
          <a:xfrm>
            <a:off x="5078435" y="3017520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3">
            <a:extLst>
              <a:ext uri="{FF2B5EF4-FFF2-40B4-BE49-F238E27FC236}">
                <a16:creationId xmlns:a16="http://schemas.microsoft.com/office/drawing/2014/main" id="{C01EE52D-D901-588A-079A-6FFFC0AAD6F5}"/>
              </a:ext>
            </a:extLst>
          </p:cNvPr>
          <p:cNvSpPr/>
          <p:nvPr/>
        </p:nvSpPr>
        <p:spPr>
          <a:xfrm>
            <a:off x="6059658" y="4069080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🏭 Gamyba - Pavyzdys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6732"/>
              </p:ext>
            </p:extLst>
          </p:nvPr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Lygmuo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Pavyzdys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Paaiškinimas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Tikslas</a:t>
                      </a:r>
                      <a:endParaRPr dirty="0"/>
                    </a:p>
                  </a:txBody>
                  <a:tcPr>
                    <a:solidFill>
                      <a:srgbClr val="9365B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Padidinti gamybos efektyvumą ir sumažinti prastovas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t>Verslo strateginis siekis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Uždavinys</a:t>
                      </a:r>
                      <a:endParaRPr dirty="0"/>
                    </a:p>
                  </a:txBody>
                  <a:tcPr>
                    <a:solidFill>
                      <a:srgbClr val="4454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dirty="0" err="1"/>
                        <a:t>Sumažinti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planuotų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sustojimų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skaičių</a:t>
                      </a:r>
                      <a:r>
                        <a:rPr dirty="0"/>
                        <a:t> 15 % per 12 </a:t>
                      </a:r>
                      <a:r>
                        <a:rPr dirty="0" err="1"/>
                        <a:t>mėn</a:t>
                      </a:r>
                      <a:r>
                        <a:rPr dirty="0"/>
                        <a:t>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t>Taktinis, išmatuojamas tikslas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Aukšto lygio sprendimas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Įdiegti "Asset Management" modulį ir integruoti su IoT įrenginiais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t>Technologinis sprendimas tikslui pasiekti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Patikslintas sprendimas</a:t>
                      </a:r>
                      <a:endParaRPr dirty="0"/>
                    </a:p>
                  </a:txBody>
                  <a:tcP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Konfigūruoti įrangos priežiūros grafikus pagal darbo valandas, sukurti IoT alertų logiką, įtraukti Power Automate pranešimus atsakingiems asmenims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rPr dirty="0" err="1"/>
                        <a:t>Detalizuotas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sprendimas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atspindintis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kliento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techninę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aplinką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atsakomybių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grandinę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Discovery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1. </a:t>
            </a:r>
            <a:r>
              <a:rPr b="1" dirty="0"/>
              <a:t>Presales, scope definition, or </a:t>
            </a:r>
            <a:r>
              <a:rPr b="1" dirty="0">
                <a:solidFill>
                  <a:srgbClr val="0070C0"/>
                </a:solidFill>
              </a:rPr>
              <a:t>envisioning</a:t>
            </a:r>
            <a:r>
              <a:rPr b="1" dirty="0"/>
              <a:t> discovery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2. Detailed estimate (phase zero)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3. Ongoing solution architecture development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4. Training and change management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5. Continuous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457200"/>
            <a:ext cx="3931920" cy="5943600"/>
          </a:xfrm>
          <a:prstGeom prst="rect">
            <a:avLst/>
          </a:prstGeom>
          <a:solidFill>
            <a:srgbClr val="ADD8E6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>
                <a:solidFill>
                  <a:srgbClr val="464646"/>
                </a:solidFill>
              </a:defRPr>
            </a:pPr>
            <a:r>
              <a:t>Image placeholder</a:t>
            </a:r>
          </a:p>
          <a:p>
            <a:r>
              <a:t>(Building photo)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129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dirty="0"/>
              <a:t>Outcomes of well-executed </a:t>
            </a:r>
            <a:endParaRPr lang="lt-LT" dirty="0"/>
          </a:p>
          <a:p>
            <a:pPr>
              <a:defRPr sz="3600" b="1">
                <a:solidFill>
                  <a:srgbClr val="000000"/>
                </a:solidFill>
              </a:defRPr>
            </a:pPr>
            <a:r>
              <a:rPr dirty="0">
                <a:solidFill>
                  <a:srgbClr val="00B0F0"/>
                </a:solidFill>
              </a:rPr>
              <a:t>process-centric</a:t>
            </a:r>
            <a:r>
              <a:rPr dirty="0"/>
              <a:t> discovery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371600" cy="103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Well defined goals in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business language</a:t>
            </a:r>
          </a:p>
        </p:txBody>
      </p:sp>
      <p:sp>
        <p:nvSpPr>
          <p:cNvPr id="5" name="Oval 4"/>
          <p:cNvSpPr/>
          <p:nvPr/>
        </p:nvSpPr>
        <p:spPr>
          <a:xfrm>
            <a:off x="21031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rPr dirty="0"/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1371600" cy="103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Relevant business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process KPI's identified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91840"/>
            <a:ext cx="1371600" cy="103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More accurate estimates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aligned to business goals</a:t>
            </a:r>
          </a:p>
        </p:txBody>
      </p:sp>
      <p:sp>
        <p:nvSpPr>
          <p:cNvPr id="9" name="Oval 8"/>
          <p:cNvSpPr/>
          <p:nvPr/>
        </p:nvSpPr>
        <p:spPr>
          <a:xfrm>
            <a:off x="48463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1371600" cy="7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Clear communication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and solutions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91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Fewer change orders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291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Increased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Process-centric discovery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325880" cy="4114800"/>
          </a:xfrm>
          <a:prstGeom prst="rect">
            <a:avLst/>
          </a:prstGeom>
          <a:solidFill>
            <a:srgbClr val="583882"/>
          </a:solidFill>
          <a:ln>
            <a:solidFill>
              <a:srgbClr val="583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43000" cy="13677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Capture and qualify the customer's business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1325880" cy="4114800"/>
          </a:xfrm>
          <a:prstGeom prst="rect">
            <a:avLst/>
          </a:prstGeom>
          <a:solidFill>
            <a:srgbClr val="7851A9"/>
          </a:solidFill>
          <a:ln>
            <a:solidFill>
              <a:srgbClr val="7851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Define or clarify solution scope in business terms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1325880" cy="4114800"/>
          </a:xfrm>
          <a:prstGeom prst="rect">
            <a:avLst/>
          </a:prstGeom>
          <a:solidFill>
            <a:srgbClr val="445484"/>
          </a:solidFill>
          <a:ln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Achieve clarity with customer with regards to the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1325880" cy="41148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rPr dirty="0"/>
              <a:t>Provide project estimates aligned with both fits and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645920"/>
            <a:ext cx="1325880" cy="4114800"/>
          </a:xfrm>
          <a:prstGeom prst="rect">
            <a:avLst/>
          </a:prstGeom>
          <a:solidFill>
            <a:srgbClr val="5C9CCC"/>
          </a:solidFill>
          <a:ln>
            <a:solidFill>
              <a:srgbClr val="5C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468880"/>
            <a:ext cx="1234440" cy="11092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rPr dirty="0"/>
              <a:t>Capture and qualify change</a:t>
            </a:r>
            <a:r>
              <a:rPr lang="lt-LT" dirty="0"/>
              <a:t> </a:t>
            </a:r>
            <a:r>
              <a:rPr lang="en-US" dirty="0"/>
              <a:t> m</a:t>
            </a:r>
            <a:r>
              <a:rPr dirty="0"/>
              <a:t>anagement requirements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45920"/>
            <a:ext cx="1325880" cy="4114800"/>
          </a:xfrm>
          <a:prstGeom prst="rect">
            <a:avLst/>
          </a:prstGeom>
          <a:solidFill>
            <a:srgbClr val="4BACC6"/>
          </a:solidFill>
          <a:ln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468880"/>
            <a:ext cx="1143000" cy="2660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Ensure the customer understands their own level of commitment and readiness required to be successful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Mapping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472C4"/>
                </a:solidFill>
              </a:defRPr>
            </a:pPr>
            <a:r>
              <a:rPr dirty="0"/>
              <a:t>Presales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/>
            </a:pPr>
            <a:r>
              <a:rPr dirty="0"/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286000" cy="363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High-level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Focus on customer goals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Tell a story of a full end-to-end process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Show the critical Dynamics components that have highest impact to customer goals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High-level solution blueprint deliverable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71800" y="3657600"/>
            <a:ext cx="548640" cy="365760"/>
          </a:xfrm>
          <a:prstGeom prst="rightArrow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9365B8"/>
                </a:solidFill>
              </a:defRPr>
            </a:pPr>
            <a:r>
              <a:rPr dirty="0"/>
              <a:t>Phase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286000" cy="3713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Start high-level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Get more detailed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Tell a story of a full end-to-end process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business critical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high-impact change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Solution blueprint deliverable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3657600"/>
            <a:ext cx="548640" cy="365760"/>
          </a:xfrm>
          <a:prstGeom prst="rightArrow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472C4"/>
                </a:solidFill>
              </a:defRPr>
            </a:pPr>
            <a:r>
              <a:rPr dirty="0"/>
              <a:t>Iterative/Ongoing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/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286000" cy="3713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Start high-level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Get more detailed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Becomes most detailed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business critical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high-impact change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Refined solution blueprint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dirty="0"/>
              <a:t>Multi-</a:t>
            </a:r>
          </a:p>
          <a:p>
            <a:r>
              <a:rPr dirty="0"/>
              <a:t>solution/phase</a:t>
            </a:r>
          </a:p>
          <a:p>
            <a:r>
              <a:rPr dirty="0"/>
              <a:t>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457200"/>
            <a:ext cx="45720" cy="5943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097280"/>
            <a:ext cx="5303520" cy="395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Consider end-to-end process rather than individual products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Map out the overall data model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Plan the roll-out strategy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Create workstreams with end-to-end processes that deliver business value for each phase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Align estimates with workstreams and deliverables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Review for shared resources (people, environments, etc.)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Recommended practices for discovery (1/2)</a:t>
            </a:r>
          </a:p>
        </p:txBody>
      </p:sp>
      <p:sp>
        <p:nvSpPr>
          <p:cNvPr id="3" name="Oval 2"/>
          <p:cNvSpPr/>
          <p:nvPr/>
        </p:nvSpPr>
        <p:spPr>
          <a:xfrm>
            <a:off x="708660" y="1189421"/>
            <a:ext cx="822960" cy="822960"/>
          </a:xfrm>
          <a:prstGeom prst="ellipse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" y="1280861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8780" y="1280861"/>
            <a:ext cx="246507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Ensure the right team is in place to drive discovery outcomes</a:t>
            </a:r>
          </a:p>
        </p:txBody>
      </p:sp>
      <p:sp>
        <p:nvSpPr>
          <p:cNvPr id="9" name="Oval 8"/>
          <p:cNvSpPr/>
          <p:nvPr/>
        </p:nvSpPr>
        <p:spPr>
          <a:xfrm>
            <a:off x="708660" y="2287402"/>
            <a:ext cx="822960" cy="822960"/>
          </a:xfrm>
          <a:prstGeom prst="ellipse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" y="2378842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73264"/>
            <a:ext cx="221996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Include Change Management workstream in the planning step</a:t>
            </a:r>
          </a:p>
        </p:txBody>
      </p:sp>
      <p:sp>
        <p:nvSpPr>
          <p:cNvPr id="12" name="Oval 11"/>
          <p:cNvSpPr/>
          <p:nvPr/>
        </p:nvSpPr>
        <p:spPr>
          <a:xfrm>
            <a:off x="5264150" y="1183328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7010" y="124641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7130" y="1183328"/>
            <a:ext cx="214122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Include requirement documentation workshop in the workshop planning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" y="3335208"/>
            <a:ext cx="845527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831" y="3500466"/>
            <a:ext cx="6576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628" y="3337109"/>
            <a:ext cx="1972603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Record the sessions and upload to the project document repository</a:t>
            </a:r>
          </a:p>
        </p:txBody>
      </p:sp>
      <p:sp>
        <p:nvSpPr>
          <p:cNvPr id="28" name="Oval 27"/>
          <p:cNvSpPr/>
          <p:nvPr/>
        </p:nvSpPr>
        <p:spPr>
          <a:xfrm>
            <a:off x="5265420" y="2282128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56860" y="2373568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2387" y="2306258"/>
            <a:ext cx="1972603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Capture all relevant information in ADO/repository</a:t>
            </a:r>
          </a:p>
        </p:txBody>
      </p:sp>
      <p:sp>
        <p:nvSpPr>
          <p:cNvPr id="31" name="Oval 30"/>
          <p:cNvSpPr/>
          <p:nvPr/>
        </p:nvSpPr>
        <p:spPr>
          <a:xfrm>
            <a:off x="5287010" y="3350709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78450" y="3442149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7130" y="3335208"/>
            <a:ext cx="2141220" cy="20598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The solution blueprint should contain all areas of the solution, including but not limited to external integrations, interfaces, data migrations, and other interactions with Dynamics 365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2AE4878D-3AED-2E27-4725-7D83B28F6B8C}"/>
              </a:ext>
            </a:extLst>
          </p:cNvPr>
          <p:cNvSpPr/>
          <p:nvPr/>
        </p:nvSpPr>
        <p:spPr>
          <a:xfrm>
            <a:off x="306435" y="4630947"/>
            <a:ext cx="4335415" cy="161745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CE92DEC-019B-6DAC-345B-CB552D2AB4C2}"/>
              </a:ext>
            </a:extLst>
          </p:cNvPr>
          <p:cNvSpPr/>
          <p:nvPr/>
        </p:nvSpPr>
        <p:spPr>
          <a:xfrm>
            <a:off x="7004051" y="1071729"/>
            <a:ext cx="2076448" cy="167336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796772-A7FA-155C-3474-EA15C914A3B2}"/>
              </a:ext>
            </a:extLst>
          </p:cNvPr>
          <p:cNvSpPr/>
          <p:nvPr/>
        </p:nvSpPr>
        <p:spPr>
          <a:xfrm>
            <a:off x="306435" y="2728801"/>
            <a:ext cx="8774064" cy="190214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discovery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2155" y="1514354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Entry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1375" y="1514356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Kick off meeting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0595" y="1514355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Baseline solution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3420" y="1514354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Plan discovery workshops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110" y="3301998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Conduct discovery workshops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4980" y="3301997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Capture business outcomes and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4200" y="3301998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Create initial solution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3420" y="3304691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Gather and import customer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10" y="5019811"/>
            <a:ext cx="1828800" cy="685801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Demo initial solution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1330" y="5019810"/>
            <a:ext cx="1828800" cy="685801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Document risks, actions, issues, and decisions (RAID)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2194560"/>
            <a:ext cx="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17920" y="0"/>
            <a:ext cx="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32374" y="5019811"/>
            <a:ext cx="1828800" cy="685801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Estimate the effort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8669" y="5019809"/>
            <a:ext cx="1828800" cy="685801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Exit criteria</a:t>
            </a:r>
          </a:p>
        </p:txBody>
      </p:sp>
      <p:pic>
        <p:nvPicPr>
          <p:cNvPr id="33" name="Graphic 32" descr="Continuous Improvement with solid fill">
            <a:extLst>
              <a:ext uri="{FF2B5EF4-FFF2-40B4-BE49-F238E27FC236}">
                <a16:creationId xmlns:a16="http://schemas.microsoft.com/office/drawing/2014/main" id="{2C61F42D-4BFC-CDFB-F6D6-C3A11C737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948" y="2476411"/>
            <a:ext cx="1125221" cy="1125221"/>
          </a:xfrm>
          <a:prstGeom prst="rect">
            <a:avLst/>
          </a:prstGeom>
        </p:spPr>
      </p:pic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CC4DA12-0F95-D7C9-49AA-F110F972B3E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180955" y="1857255"/>
            <a:ext cx="440420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542C9EA-1092-CB3C-D300-FC1B5F34F2B0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450175" y="1857256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AD8141B-F97D-EF7E-66D0-CFCD18B7FA7A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6719395" y="1857255"/>
            <a:ext cx="45402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687A835-5E88-C446-B349-92E440750523}"/>
              </a:ext>
            </a:extLst>
          </p:cNvPr>
          <p:cNvCxnSpPr>
            <a:stCxn id="9" idx="2"/>
            <a:endCxn id="18" idx="0"/>
          </p:cNvCxnSpPr>
          <p:nvPr/>
        </p:nvCxnSpPr>
        <p:spPr>
          <a:xfrm rot="5400000">
            <a:off x="7535552" y="2752423"/>
            <a:ext cx="1104536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7B82CDB-CECB-9C4C-3B9E-4DA3730C80D0}"/>
              </a:ext>
            </a:extLst>
          </p:cNvPr>
          <p:cNvCxnSpPr>
            <a:stCxn id="18" idx="1"/>
            <a:endCxn id="16" idx="3"/>
          </p:cNvCxnSpPr>
          <p:nvPr/>
        </p:nvCxnSpPr>
        <p:spPr>
          <a:xfrm rot="10800000">
            <a:off x="6733000" y="3644900"/>
            <a:ext cx="440420" cy="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CFF1717-D21A-2D68-620E-C00E484B7F55}"/>
              </a:ext>
            </a:extLst>
          </p:cNvPr>
          <p:cNvCxnSpPr>
            <a:stCxn id="16" idx="1"/>
            <a:endCxn id="14" idx="3"/>
          </p:cNvCxnSpPr>
          <p:nvPr/>
        </p:nvCxnSpPr>
        <p:spPr>
          <a:xfrm rot="10800000">
            <a:off x="4463780" y="3644899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F499F4A-261A-960F-1CAE-D26939970F2A}"/>
              </a:ext>
            </a:extLst>
          </p:cNvPr>
          <p:cNvCxnSpPr>
            <a:stCxn id="14" idx="1"/>
            <a:endCxn id="12" idx="3"/>
          </p:cNvCxnSpPr>
          <p:nvPr/>
        </p:nvCxnSpPr>
        <p:spPr>
          <a:xfrm rot="10800000" flipV="1">
            <a:off x="2200910" y="3644897"/>
            <a:ext cx="43407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DDF5F40-4242-B3B4-C7CA-07BD23B12A1F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5400000">
            <a:off x="770504" y="4503805"/>
            <a:ext cx="1032012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67B054FE-489B-09BF-CE96-52A95F452A35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2200910" y="5362711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49CFFD8-A002-31E7-66DD-4684C21A43D3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4470130" y="5362711"/>
            <a:ext cx="56224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1B9C166-CD1B-3CC3-B20A-B6594740B531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6861174" y="5362710"/>
            <a:ext cx="407495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100</TotalTime>
  <Words>956</Words>
  <Application>Microsoft Office PowerPoint</Application>
  <PresentationFormat>On-screen Show (4:3)</PresentationFormat>
  <Paragraphs>181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Jurijus Mirošničenko</dc:creator>
  <cp:keywords/>
  <dc:description>generated using python-pptx</dc:description>
  <cp:lastModifiedBy>Jurijus Mirošničenko</cp:lastModifiedBy>
  <cp:revision>13</cp:revision>
  <dcterms:created xsi:type="dcterms:W3CDTF">2013-01-27T09:14:16Z</dcterms:created>
  <dcterms:modified xsi:type="dcterms:W3CDTF">2025-11-04T07:06:50Z</dcterms:modified>
  <cp:category/>
</cp:coreProperties>
</file>